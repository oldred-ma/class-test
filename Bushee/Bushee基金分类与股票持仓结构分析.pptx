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72" r:id="rId9"/>
    <p:sldId id="266" r:id="rId10"/>
    <p:sldId id="275" r:id="rId11"/>
    <p:sldId id="273" r:id="rId12"/>
    <p:sldId id="274" r:id="rId13"/>
    <p:sldId id="276" r:id="rId14"/>
    <p:sldId id="270" r:id="rId15"/>
    <p:sldId id="271" r:id="rId16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e%20project\Bushee\data\processed\FundClassification_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e%20project\Bushee\result\StockHoldRatio_ByFundType_Avg9Period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e%20project\Bushee\result\StockHoldRatio_ByFundType_Avg9Period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458854435806837E-3"/>
          <c:y val="1.6312459379407254E-2"/>
          <c:w val="0.66706387640941223"/>
          <c:h val="0.91028147341326016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0C0-423C-8787-D4FC85AF9FF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0C0-423C-8787-D4FC85AF9FF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0C0-423C-8787-D4FC85AF9FF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Sheet1!$I$2:$J$4</c:f>
              <c:multiLvlStrCache>
                <c:ptCount val="3"/>
                <c:lvl>
                  <c:pt idx="0">
                    <c:v>Quasi-index</c:v>
                  </c:pt>
                  <c:pt idx="1">
                    <c:v>Transient</c:v>
                  </c:pt>
                  <c:pt idx="2">
                    <c:v>Dedicated</c:v>
                  </c:pt>
                </c:lvl>
                <c:lvl>
                  <c:pt idx="0">
                    <c:v>4302</c:v>
                  </c:pt>
                  <c:pt idx="1">
                    <c:v>4700</c:v>
                  </c:pt>
                  <c:pt idx="2">
                    <c:v>169</c:v>
                  </c:pt>
                </c:lvl>
              </c:multiLvlStrCache>
            </c:multiLvlStrRef>
          </c:cat>
          <c:val>
            <c:numRef>
              <c:f>Sheet1!$K$2:$K$4</c:f>
              <c:numCache>
                <c:formatCode>0.00%</c:formatCode>
                <c:ptCount val="3"/>
                <c:pt idx="0">
                  <c:v>0.46908734052993128</c:v>
                </c:pt>
                <c:pt idx="1">
                  <c:v>0.51248500708755862</c:v>
                </c:pt>
                <c:pt idx="2">
                  <c:v>1.8427652382510085E-2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C0-423C-8787-D4FC85AF9FF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股票被持股情况（</a:t>
            </a:r>
            <a:r>
              <a:rPr lang="en-US" altLang="zh-CN"/>
              <a:t>2023-2025</a:t>
            </a:r>
            <a:r>
              <a:rPr lang="zh-CN" altLang="en-US"/>
              <a:t>）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Sheet2!$B$1:$D$1</c:f>
              <c:strCache>
                <c:ptCount val="3"/>
                <c:pt idx="0">
                  <c:v>Dedicated_Ratio</c:v>
                </c:pt>
                <c:pt idx="1">
                  <c:v>QuasiIndex_Ratio</c:v>
                </c:pt>
                <c:pt idx="2">
                  <c:v>Transient_Ratio</c:v>
                </c:pt>
              </c:strCache>
            </c:strRef>
          </c:cat>
          <c:val>
            <c:numRef>
              <c:f>Sheet2!$B$2:$D$2</c:f>
              <c:numCache>
                <c:formatCode>0.000%</c:formatCode>
                <c:ptCount val="3"/>
                <c:pt idx="0">
                  <c:v>7.932712884074776E-4</c:v>
                </c:pt>
                <c:pt idx="1">
                  <c:v>1.7533429828462656E-2</c:v>
                </c:pt>
                <c:pt idx="2">
                  <c:v>6.2480868690845629E-3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F3-4C25-B5C0-11BF0C2FEF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2815152"/>
        <c:axId val="232817552"/>
      </c:barChart>
      <c:catAx>
        <c:axId val="23281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2817552"/>
        <c:crosses val="autoZero"/>
        <c:auto val="1"/>
        <c:lblAlgn val="ctr"/>
        <c:lblOffset val="100"/>
        <c:noMultiLvlLbl val="0"/>
      </c:catAx>
      <c:valAx>
        <c:axId val="232817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281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股票被持股情况（</a:t>
            </a:r>
            <a:r>
              <a:rPr lang="en-US" altLang="zh-CN"/>
              <a:t>2021-2025</a:t>
            </a:r>
            <a:r>
              <a:rPr lang="zh-CN" altLang="en-US"/>
              <a:t>）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Sheet2!$B$1:$D$1</c:f>
              <c:strCache>
                <c:ptCount val="3"/>
                <c:pt idx="0">
                  <c:v>Dedicated</c:v>
                </c:pt>
                <c:pt idx="1">
                  <c:v>QuasiIndex</c:v>
                </c:pt>
                <c:pt idx="2">
                  <c:v>Transient</c:v>
                </c:pt>
              </c:strCache>
            </c:strRef>
          </c:cat>
          <c:val>
            <c:numRef>
              <c:f>Sheet2!$B$3:$D$3</c:f>
              <c:numCache>
                <c:formatCode>0.0000%</c:formatCode>
                <c:ptCount val="3"/>
                <c:pt idx="0">
                  <c:v>7.9427199999999995E-4</c:v>
                </c:pt>
                <c:pt idx="1">
                  <c:v>1.8164996999999999E-2</c:v>
                </c:pt>
                <c:pt idx="2">
                  <c:v>7.4735089999999997E-3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80-4E1D-8491-7BF1129CBA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32815152"/>
        <c:axId val="232817552"/>
      </c:barChart>
      <c:catAx>
        <c:axId val="23281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2817552"/>
        <c:crosses val="autoZero"/>
        <c:auto val="1"/>
        <c:lblAlgn val="ctr"/>
        <c:lblOffset val="100"/>
        <c:noMultiLvlLbl val="0"/>
      </c:catAx>
      <c:valAx>
        <c:axId val="232817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281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57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3446-747F-CF68-DD4D-E003ACB8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CE8B0-E164-110C-E0D4-ED75629C7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9FBA3-6672-6A30-BE68-238C94A15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F19EA-CD02-4E78-B8BF-F05D22DB5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6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4BD1-9B71-CC14-575D-A498D5108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FDF07-409F-4DA7-1737-C6485CD36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F04E2-F320-AD25-A55F-98CB15550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B9D35-0880-8C93-6891-F35CFEDC9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76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384B-7068-E442-F39A-0357DBA3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8AE8C-DCDF-F5E7-DE8C-6FA341A2C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46041-2800-62AD-0B9A-17C4ABF9E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74534-3162-3B1C-7565-C469FE0CAA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9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6E82-BD7C-C98D-3004-F6931F5D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5C7ED-1D22-AAF8-5A58-F761047F2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30B3D-A787-21FC-03B1-46A7C8C80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7BCDE-2535-9345-283F-BED41A4C4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91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B4940-3B7F-7CCE-0C1D-847EBC8A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6013E-1CA6-916A-6D21-7FD4E3F78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5626D-B97C-8C97-7064-23BB34B8F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8920F-04F8-C9C3-242A-CEAC407F1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44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10" Type="http://schemas.openxmlformats.org/officeDocument/2006/relationships/chart" Target="../charts/chart1.xml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860" y="2007235"/>
            <a:ext cx="6565265" cy="17543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Bushee基金分类与股票持仓结构分析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25990" y="4654288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2135" y="4653130"/>
            <a:ext cx="247777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汇报人</a:t>
            </a:r>
            <a:r>
              <a:rPr lang="en-US" sz="20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:</a:t>
            </a:r>
            <a:r>
              <a:rPr lang="zh-CN" altLang="en-US" sz="20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马天玮 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Image 0" descr="https://kimi-img.moonshot.cn/pub/slides/slides_tmpl/image/25-09-04-16:27:00-d2skql61bb2p4onbqhb0.png"/>
          <p:cNvPicPr>
            <a:picLocks noChangeAspect="1"/>
          </p:cNvPicPr>
          <p:nvPr/>
        </p:nvPicPr>
        <p:blipFill>
          <a:blip r:embed="rId3"/>
          <a:srcRect l="10087" t="-37" b="305"/>
          <a:stretch/>
        </p:blipFill>
        <p:spPr>
          <a:xfrm>
            <a:off x="7114540" y="-1270"/>
            <a:ext cx="5077460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402205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Image 0" descr="https://kimi-img.moonshot.cn/pub/slides/slides_tmpl/image/25-09-04-16:26:59-d2skqku1bb2p4onbqh8g.png"/>
          <p:cNvPicPr>
            <a:picLocks noChangeAspect="1"/>
          </p:cNvPicPr>
          <p:nvPr/>
        </p:nvPicPr>
        <p:blipFill>
          <a:blip r:embed="rId3"/>
          <a:srcRect t="68" b="68"/>
          <a:stretch/>
        </p:blipFill>
        <p:spPr>
          <a:xfrm flipH="1">
            <a:off x="332105" y="0"/>
            <a:ext cx="11205845" cy="9372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54233" y="1105535"/>
            <a:ext cx="2883535" cy="8312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54233" y="1105535"/>
            <a:ext cx="2883535" cy="83121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目录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53598" y="1812290"/>
            <a:ext cx="288480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>
                    <a:alpha val="5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CONTENTS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361440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145665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94500" y="3017296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642200" y="3327176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78725" y="5873526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478110" y="3046095"/>
            <a:ext cx="2087880" cy="3017520"/>
          </a:xfrm>
          <a:prstGeom prst="roundRect">
            <a:avLst>
              <a:gd name="adj" fmla="val 6594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125810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262335" y="5902325"/>
            <a:ext cx="520065" cy="75565"/>
          </a:xfrm>
          <a:prstGeom prst="roundRect">
            <a:avLst>
              <a:gd name="adj" fmla="val 5000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009140" y="3355975"/>
            <a:ext cx="792480" cy="792480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009140" y="3355975"/>
            <a:ext cx="792480" cy="792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01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450340" y="4509135"/>
            <a:ext cx="1910080" cy="646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数据来源与样本构建</a:t>
            </a:r>
            <a:endParaRPr lang="en-US" altLang="zh-CN" sz="1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MiSans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582510" y="3496721"/>
            <a:ext cx="902335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02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033235" y="4480336"/>
            <a:ext cx="199834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基金分类结果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063580" y="3525520"/>
            <a:ext cx="902335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03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567010" y="4509135"/>
            <a:ext cx="191008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股票被持股情况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/>
            <a:r>
              <a:rPr lang="zh-CN" altLang="zh-CN" sz="3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数据来源与样本构建</a:t>
            </a:r>
            <a:endParaRPr lang="en-US" altLang="zh-CN" sz="36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96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01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2-d2skqlm1bb2p4onbqh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5" y="1985010"/>
            <a:ext cx="4468495" cy="39382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6:27:01-d2skqle1bb2p4onbqh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070" y="3652520"/>
            <a:ext cx="603250" cy="603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8060" y="7042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数据来源与样本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规模</a:t>
            </a:r>
            <a:endParaRPr lang="en-US" altLang="zh-CN" sz="3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MiSans" pitchFamily="34" charset="-120"/>
            </a:endParaRPr>
          </a:p>
        </p:txBody>
      </p:sp>
      <p:pic>
        <p:nvPicPr>
          <p:cNvPr id="5" name="Image 2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40680" y="2008505"/>
            <a:ext cx="584835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数据来源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5440680" y="2394585"/>
            <a:ext cx="5848350" cy="11426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数据来源于CSMAR数据库，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由于我国基金公司的季报，只会披露前</a:t>
            </a:r>
            <a:r>
              <a:rPr lang="en-US" altLang="zh-CN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10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大重仓股。为了保证数据对齐，</a:t>
            </a: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提取基金季度前10大重仓股持仓信息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 3"/>
          <p:cNvSpPr/>
          <p:nvPr/>
        </p:nvSpPr>
        <p:spPr>
          <a:xfrm>
            <a:off x="5440680" y="4078605"/>
            <a:ext cx="584835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样本规模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4"/>
          <p:cNvSpPr/>
          <p:nvPr/>
        </p:nvSpPr>
        <p:spPr>
          <a:xfrm>
            <a:off x="5440680" y="4464685"/>
            <a:ext cx="5848350" cy="7732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样本涵盖9171只基金，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初步实验使用的的时间区间为</a:t>
            </a:r>
            <a:r>
              <a:rPr lang="en-US" altLang="zh-CN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2023-2025（9期） 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，后续补充了从</a:t>
            </a: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2021-2025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期）</a:t>
            </a: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进行对比分析。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0047478" y="4300770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15535" y="151783"/>
                </a:moveTo>
                <a:lnTo>
                  <a:pt x="242350" y="178492"/>
                </a:lnTo>
                <a:cubicBezTo>
                  <a:pt x="255477" y="191568"/>
                  <a:pt x="262770" y="209002"/>
                  <a:pt x="262770" y="227554"/>
                </a:cubicBezTo>
                <a:cubicBezTo>
                  <a:pt x="262770" y="246217"/>
                  <a:pt x="255477" y="263651"/>
                  <a:pt x="242350" y="276726"/>
                </a:cubicBezTo>
                <a:lnTo>
                  <a:pt x="145971" y="372837"/>
                </a:lnTo>
                <a:cubicBezTo>
                  <a:pt x="132283" y="386360"/>
                  <a:pt x="114443" y="393065"/>
                  <a:pt x="96603" y="393065"/>
                </a:cubicBezTo>
                <a:cubicBezTo>
                  <a:pt x="78651" y="393065"/>
                  <a:pt x="60812" y="386360"/>
                  <a:pt x="47235" y="372837"/>
                </a:cubicBezTo>
                <a:lnTo>
                  <a:pt x="20420" y="346127"/>
                </a:lnTo>
                <a:cubicBezTo>
                  <a:pt x="7293" y="333052"/>
                  <a:pt x="0" y="315618"/>
                  <a:pt x="0" y="296955"/>
                </a:cubicBezTo>
                <a:cubicBezTo>
                  <a:pt x="0" y="278403"/>
                  <a:pt x="7293" y="260969"/>
                  <a:pt x="20533" y="247893"/>
                </a:cubicBezTo>
                <a:lnTo>
                  <a:pt x="97052" y="171563"/>
                </a:lnTo>
                <a:lnTo>
                  <a:pt x="126672" y="201179"/>
                </a:lnTo>
                <a:lnTo>
                  <a:pt x="50153" y="277397"/>
                </a:lnTo>
                <a:cubicBezTo>
                  <a:pt x="44880" y="282650"/>
                  <a:pt x="41962" y="289579"/>
                  <a:pt x="41962" y="296955"/>
                </a:cubicBezTo>
                <a:cubicBezTo>
                  <a:pt x="41962" y="304442"/>
                  <a:pt x="44880" y="311371"/>
                  <a:pt x="50153" y="316623"/>
                </a:cubicBezTo>
                <a:lnTo>
                  <a:pt x="76856" y="343222"/>
                </a:lnTo>
                <a:cubicBezTo>
                  <a:pt x="87739" y="354062"/>
                  <a:pt x="105355" y="354062"/>
                  <a:pt x="116238" y="343222"/>
                </a:cubicBezTo>
                <a:lnTo>
                  <a:pt x="212617" y="247223"/>
                </a:lnTo>
                <a:cubicBezTo>
                  <a:pt x="217890" y="241970"/>
                  <a:pt x="220808" y="235041"/>
                  <a:pt x="220808" y="227554"/>
                </a:cubicBezTo>
                <a:cubicBezTo>
                  <a:pt x="220808" y="220178"/>
                  <a:pt x="217890" y="213249"/>
                  <a:pt x="212617" y="207996"/>
                </a:cubicBezTo>
                <a:lnTo>
                  <a:pt x="185914" y="181398"/>
                </a:lnTo>
                <a:close/>
                <a:moveTo>
                  <a:pt x="289589" y="0"/>
                </a:moveTo>
                <a:cubicBezTo>
                  <a:pt x="308214" y="0"/>
                  <a:pt x="325717" y="7265"/>
                  <a:pt x="338957" y="20340"/>
                </a:cubicBezTo>
                <a:lnTo>
                  <a:pt x="365660" y="47050"/>
                </a:lnTo>
                <a:cubicBezTo>
                  <a:pt x="378787" y="60125"/>
                  <a:pt x="386080" y="77559"/>
                  <a:pt x="386080" y="96110"/>
                </a:cubicBezTo>
                <a:cubicBezTo>
                  <a:pt x="386080" y="114662"/>
                  <a:pt x="378787" y="132208"/>
                  <a:pt x="365660" y="145284"/>
                </a:cubicBezTo>
                <a:lnTo>
                  <a:pt x="289140" y="221502"/>
                </a:lnTo>
                <a:lnTo>
                  <a:pt x="259408" y="191998"/>
                </a:lnTo>
                <a:lnTo>
                  <a:pt x="335927" y="115780"/>
                </a:lnTo>
                <a:cubicBezTo>
                  <a:pt x="341200" y="110527"/>
                  <a:pt x="344118" y="103598"/>
                  <a:pt x="344118" y="96110"/>
                </a:cubicBezTo>
                <a:cubicBezTo>
                  <a:pt x="344118" y="88735"/>
                  <a:pt x="341200" y="81806"/>
                  <a:pt x="335927" y="76554"/>
                </a:cubicBezTo>
                <a:lnTo>
                  <a:pt x="309224" y="49955"/>
                </a:lnTo>
                <a:cubicBezTo>
                  <a:pt x="303950" y="44703"/>
                  <a:pt x="296994" y="41797"/>
                  <a:pt x="289589" y="41797"/>
                </a:cubicBezTo>
                <a:cubicBezTo>
                  <a:pt x="282184" y="41797"/>
                  <a:pt x="275115" y="44703"/>
                  <a:pt x="269954" y="49955"/>
                </a:cubicBezTo>
                <a:lnTo>
                  <a:pt x="173463" y="145954"/>
                </a:lnTo>
                <a:cubicBezTo>
                  <a:pt x="168190" y="151206"/>
                  <a:pt x="165385" y="158135"/>
                  <a:pt x="165385" y="165511"/>
                </a:cubicBezTo>
                <a:cubicBezTo>
                  <a:pt x="165385" y="172999"/>
                  <a:pt x="168190" y="179928"/>
                  <a:pt x="173463" y="185181"/>
                </a:cubicBezTo>
                <a:lnTo>
                  <a:pt x="200278" y="211778"/>
                </a:lnTo>
                <a:lnTo>
                  <a:pt x="170546" y="241282"/>
                </a:lnTo>
                <a:lnTo>
                  <a:pt x="143843" y="214685"/>
                </a:lnTo>
                <a:cubicBezTo>
                  <a:pt x="130603" y="201609"/>
                  <a:pt x="123310" y="184175"/>
                  <a:pt x="123310" y="165511"/>
                </a:cubicBezTo>
                <a:cubicBezTo>
                  <a:pt x="123310" y="146960"/>
                  <a:pt x="130603" y="129526"/>
                  <a:pt x="143843" y="116339"/>
                </a:cubicBezTo>
                <a:lnTo>
                  <a:pt x="240221" y="20340"/>
                </a:lnTo>
                <a:cubicBezTo>
                  <a:pt x="253349" y="7265"/>
                  <a:pt x="270964" y="0"/>
                  <a:pt x="28958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928495" y="4044749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63970" y="158609"/>
                </a:moveTo>
                <a:cubicBezTo>
                  <a:pt x="272951" y="158609"/>
                  <a:pt x="280396" y="166129"/>
                  <a:pt x="280396" y="175273"/>
                </a:cubicBezTo>
                <a:lnTo>
                  <a:pt x="280396" y="247883"/>
                </a:lnTo>
                <a:cubicBezTo>
                  <a:pt x="279569" y="257027"/>
                  <a:pt x="272951" y="264547"/>
                  <a:pt x="263970" y="264547"/>
                </a:cubicBezTo>
                <a:cubicBezTo>
                  <a:pt x="254930" y="264547"/>
                  <a:pt x="247603" y="257027"/>
                  <a:pt x="247603" y="247883"/>
                </a:cubicBezTo>
                <a:lnTo>
                  <a:pt x="247603" y="175273"/>
                </a:lnTo>
                <a:cubicBezTo>
                  <a:pt x="247603" y="166129"/>
                  <a:pt x="254989" y="158609"/>
                  <a:pt x="263970" y="158609"/>
                </a:cubicBezTo>
                <a:close/>
                <a:moveTo>
                  <a:pt x="192695" y="108549"/>
                </a:moveTo>
                <a:cubicBezTo>
                  <a:pt x="201676" y="108549"/>
                  <a:pt x="209062" y="116069"/>
                  <a:pt x="209062" y="125213"/>
                </a:cubicBezTo>
                <a:lnTo>
                  <a:pt x="209062" y="247883"/>
                </a:lnTo>
                <a:cubicBezTo>
                  <a:pt x="209062" y="257027"/>
                  <a:pt x="201676" y="264547"/>
                  <a:pt x="192695" y="264547"/>
                </a:cubicBezTo>
                <a:cubicBezTo>
                  <a:pt x="183596" y="264547"/>
                  <a:pt x="176270" y="257027"/>
                  <a:pt x="176270" y="247883"/>
                </a:cubicBezTo>
                <a:lnTo>
                  <a:pt x="176270" y="125213"/>
                </a:lnTo>
                <a:cubicBezTo>
                  <a:pt x="176270" y="116069"/>
                  <a:pt x="183714" y="108549"/>
                  <a:pt x="192695" y="108549"/>
                </a:cubicBezTo>
                <a:close/>
                <a:moveTo>
                  <a:pt x="121353" y="70076"/>
                </a:moveTo>
                <a:cubicBezTo>
                  <a:pt x="130338" y="70076"/>
                  <a:pt x="137727" y="77657"/>
                  <a:pt x="137727" y="86803"/>
                </a:cubicBezTo>
                <a:lnTo>
                  <a:pt x="137727" y="247880"/>
                </a:lnTo>
                <a:cubicBezTo>
                  <a:pt x="137727" y="257026"/>
                  <a:pt x="130338" y="264547"/>
                  <a:pt x="121353" y="264547"/>
                </a:cubicBezTo>
                <a:cubicBezTo>
                  <a:pt x="112309" y="264547"/>
                  <a:pt x="104980" y="257026"/>
                  <a:pt x="104980" y="247880"/>
                </a:cubicBezTo>
                <a:lnTo>
                  <a:pt x="104980" y="86803"/>
                </a:lnTo>
                <a:cubicBezTo>
                  <a:pt x="104980" y="77657"/>
                  <a:pt x="112369" y="70076"/>
                  <a:pt x="121353" y="70076"/>
                </a:cubicBezTo>
                <a:close/>
                <a:moveTo>
                  <a:pt x="54909" y="33392"/>
                </a:moveTo>
                <a:lnTo>
                  <a:pt x="54909" y="301312"/>
                </a:lnTo>
                <a:lnTo>
                  <a:pt x="329575" y="301312"/>
                </a:lnTo>
                <a:lnTo>
                  <a:pt x="329575" y="33392"/>
                </a:lnTo>
                <a:close/>
                <a:moveTo>
                  <a:pt x="16372" y="0"/>
                </a:moveTo>
                <a:lnTo>
                  <a:pt x="369767" y="0"/>
                </a:lnTo>
                <a:cubicBezTo>
                  <a:pt x="378751" y="0"/>
                  <a:pt x="386139" y="7521"/>
                  <a:pt x="386080" y="16666"/>
                </a:cubicBezTo>
                <a:cubicBezTo>
                  <a:pt x="386080" y="25811"/>
                  <a:pt x="377864" y="33392"/>
                  <a:pt x="368880" y="33392"/>
                </a:cubicBezTo>
                <a:lnTo>
                  <a:pt x="362319" y="33392"/>
                </a:lnTo>
                <a:lnTo>
                  <a:pt x="362319" y="317135"/>
                </a:lnTo>
                <a:cubicBezTo>
                  <a:pt x="362319" y="327123"/>
                  <a:pt x="354931" y="333801"/>
                  <a:pt x="345947" y="333801"/>
                </a:cubicBezTo>
                <a:lnTo>
                  <a:pt x="303332" y="333801"/>
                </a:lnTo>
                <a:lnTo>
                  <a:pt x="303332" y="376399"/>
                </a:lnTo>
                <a:cubicBezTo>
                  <a:pt x="303332" y="385544"/>
                  <a:pt x="295884" y="393065"/>
                  <a:pt x="286900" y="393065"/>
                </a:cubicBezTo>
                <a:cubicBezTo>
                  <a:pt x="277916" y="393065"/>
                  <a:pt x="270528" y="385544"/>
                  <a:pt x="270528" y="376399"/>
                </a:cubicBezTo>
                <a:lnTo>
                  <a:pt x="270528" y="333801"/>
                </a:lnTo>
                <a:lnTo>
                  <a:pt x="114725" y="333801"/>
                </a:lnTo>
                <a:lnTo>
                  <a:pt x="114725" y="376399"/>
                </a:lnTo>
                <a:cubicBezTo>
                  <a:pt x="114725" y="385544"/>
                  <a:pt x="107336" y="393065"/>
                  <a:pt x="98352" y="393065"/>
                </a:cubicBezTo>
                <a:cubicBezTo>
                  <a:pt x="89368" y="393065"/>
                  <a:pt x="81921" y="385544"/>
                  <a:pt x="81921" y="376399"/>
                </a:cubicBezTo>
                <a:lnTo>
                  <a:pt x="81921" y="333801"/>
                </a:lnTo>
                <a:lnTo>
                  <a:pt x="39305" y="333801"/>
                </a:lnTo>
                <a:cubicBezTo>
                  <a:pt x="30321" y="333801"/>
                  <a:pt x="22933" y="326281"/>
                  <a:pt x="22933" y="317135"/>
                </a:cubicBezTo>
                <a:lnTo>
                  <a:pt x="22933" y="33392"/>
                </a:lnTo>
                <a:lnTo>
                  <a:pt x="16372" y="33392"/>
                </a:lnTo>
                <a:cubicBezTo>
                  <a:pt x="7388" y="33392"/>
                  <a:pt x="0" y="25811"/>
                  <a:pt x="0" y="16666"/>
                </a:cubicBezTo>
                <a:cubicBezTo>
                  <a:pt x="0" y="7521"/>
                  <a:pt x="7388" y="0"/>
                  <a:pt x="1637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Image 2" descr="https://kimi-img.moonshot.cn/pub/slides/slides_tmpl/image/25-09-04-16:27:03-d2skqlu1bb2p4onbqhl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6230" y="6421120"/>
            <a:ext cx="328930" cy="32893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513820" y="6417945"/>
            <a:ext cx="347345" cy="343535"/>
          </a:xfrm>
          <a:prstGeom prst="ellipse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Image 3" descr="https://kimi-img.moonshot.cn/pub/slides/slides_tmpl/image/25-09-04-16:27:03-d2skqlu1bb2p4onbqhl0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0305" y="6432550"/>
            <a:ext cx="328930" cy="3289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88060" y="5137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 err="1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指标</a:t>
            </a:r>
            <a:r>
              <a:rPr lang="zh-CN" alt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构建问题与</a:t>
            </a:r>
            <a:r>
              <a:rPr lang="en-US" sz="3200" b="1" dirty="0" err="1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调整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7550" y="1398270"/>
            <a:ext cx="10859135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数据局限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18854" y="1837055"/>
            <a:ext cx="6119035" cy="6871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由于仅使用</a:t>
            </a: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披露前10大重仓股，导致HHI分散度指标系统性偏低</a:t>
            </a: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，难以准确的进行聚类分类。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C286C8A-F94F-1E22-1807-A84DDA5957C3}"/>
              </a:ext>
            </a:extLst>
          </p:cNvPr>
          <p:cNvSpPr/>
          <p:nvPr/>
        </p:nvSpPr>
        <p:spPr>
          <a:xfrm>
            <a:off x="6837889" y="3847021"/>
            <a:ext cx="4249644" cy="8617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指标二：</a:t>
            </a:r>
            <a:r>
              <a:rPr lang="en-US" b="1" dirty="0" err="1">
                <a:latin typeface="宋体" panose="02010600030101010101" pitchFamily="2" charset="-122"/>
                <a:ea typeface="宋体" panose="02010600030101010101" pitchFamily="2" charset="-122"/>
              </a:rPr>
              <a:t>换手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率</a:t>
            </a:r>
            <a:r>
              <a:rPr 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Turnover</a:t>
            </a: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用于衡量持仓变动程度。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F52DFD2-EA84-388D-B7FF-5DB0B97B2C02}"/>
              </a:ext>
            </a:extLst>
          </p:cNvPr>
          <p:cNvSpPr/>
          <p:nvPr/>
        </p:nvSpPr>
        <p:spPr>
          <a:xfrm>
            <a:off x="724328" y="3631254"/>
            <a:ext cx="4516534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A746DD-C4AE-19B4-D49F-FFF381686102}"/>
              </a:ext>
            </a:extLst>
          </p:cNvPr>
          <p:cNvSpPr txBox="1"/>
          <p:nvPr/>
        </p:nvSpPr>
        <p:spPr>
          <a:xfrm>
            <a:off x="861694" y="3550360"/>
            <a:ext cx="49832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指标一：持仓集中度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EN</a:t>
            </a: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不同于原文使用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HHI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，即持仓股票占净值比例的平方和来衡量集中度。</a:t>
            </a: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选取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EN=1/HHI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替代传统分散度指标。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627EAC2-A2C0-C856-0D24-0E1E4DCE73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467" y="4708795"/>
            <a:ext cx="1648055" cy="70494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8257459-DE95-615F-C6CD-CC745647096E}"/>
              </a:ext>
            </a:extLst>
          </p:cNvPr>
          <p:cNvPicPr>
            <a:picLocks/>
          </p:cNvPicPr>
          <p:nvPr/>
        </p:nvPicPr>
        <p:blipFill>
          <a:blip r:embed="rId8"/>
          <a:srcRect t="26851" r="23981"/>
          <a:stretch>
            <a:fillRect/>
          </a:stretch>
        </p:blipFill>
        <p:spPr>
          <a:xfrm>
            <a:off x="695642" y="5413743"/>
            <a:ext cx="1904607" cy="87802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661DE60-500F-4C58-07AD-50B915262B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5731" y="4767297"/>
            <a:ext cx="3258005" cy="1181265"/>
          </a:xfrm>
          <a:prstGeom prst="rect">
            <a:avLst/>
          </a:prstGeom>
        </p:spPr>
      </p:pic>
      <p:graphicFrame>
        <p:nvGraphicFramePr>
          <p:cNvPr id="33" name="图表 32">
            <a:extLst>
              <a:ext uri="{FF2B5EF4-FFF2-40B4-BE49-F238E27FC236}">
                <a16:creationId xmlns:a16="http://schemas.microsoft.com/office/drawing/2014/main" id="{5D218867-B31B-383F-278F-E6FBB26CA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7504816"/>
              </p:ext>
            </p:extLst>
          </p:nvPr>
        </p:nvGraphicFramePr>
        <p:xfrm>
          <a:off x="7352759" y="436176"/>
          <a:ext cx="4249644" cy="3114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基金</a:t>
            </a:r>
            <a:r>
              <a:rPr lang="en-US" sz="3600" b="1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分类结果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96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02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" y="-3175"/>
            <a:ext cx="12224385" cy="3230469"/>
          </a:xfrm>
          <a:prstGeom prst="rect">
            <a:avLst/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Image 0" descr="https://kimi-img.moonshot.cn/pub/slides/slides_tmpl/image/25-09-04-16:27:03-d2skqlu1bb2p4onbqhj0.png"/>
          <p:cNvPicPr>
            <a:picLocks noChangeAspect="1"/>
          </p:cNvPicPr>
          <p:nvPr/>
        </p:nvPicPr>
        <p:blipFill>
          <a:blip r:embed="rId3"/>
          <a:srcRect t="5" b="5"/>
          <a:stretch/>
        </p:blipFill>
        <p:spPr>
          <a:xfrm>
            <a:off x="608965" y="1366655"/>
            <a:ext cx="3243243" cy="21600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6:27:03-d2skqlu1bb2p4onbqhjg.png"/>
          <p:cNvPicPr>
            <a:picLocks noChangeAspect="1"/>
          </p:cNvPicPr>
          <p:nvPr/>
        </p:nvPicPr>
        <p:blipFill>
          <a:blip r:embed="rId4"/>
          <a:srcRect l="8" r="8"/>
          <a:stretch/>
        </p:blipFill>
        <p:spPr>
          <a:xfrm>
            <a:off x="8332133" y="1366655"/>
            <a:ext cx="3242945" cy="21600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6:27:03-d2skqlu1bb2p4onbqhk0.png"/>
          <p:cNvPicPr>
            <a:picLocks noChangeAspect="1"/>
          </p:cNvPicPr>
          <p:nvPr/>
        </p:nvPicPr>
        <p:blipFill>
          <a:blip r:embed="rId5"/>
          <a:srcRect l="8" r="8"/>
          <a:stretch/>
        </p:blipFill>
        <p:spPr>
          <a:xfrm>
            <a:off x="4470698" y="1366655"/>
            <a:ext cx="3242945" cy="2160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88695" y="367665"/>
            <a:ext cx="6344285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Bushee基金三维分类框架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Image 3" descr="https://kimi-img.moonshot.cn/pub/slides/slides_tmpl/image/25-09-04-16:27:03-d2skqlu1bb2p4onbqhig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9577" y="434657"/>
            <a:ext cx="533400" cy="368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82930" y="3932555"/>
            <a:ext cx="340868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Transient型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27380" y="4619625"/>
            <a:ext cx="3355975" cy="870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高换手+高分散</a:t>
            </a:r>
            <a:r>
              <a:rPr lang="en-US" sz="14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，短期交易导向，追求市场时机收益，持股轮换频繁，流动性需求高。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416425" y="3932555"/>
            <a:ext cx="340868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Quasi-index型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460875" y="4619625"/>
            <a:ext cx="3355975" cy="870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低换手+高分散</a:t>
            </a:r>
            <a:r>
              <a:rPr lang="en-US" sz="14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，模拟指数化投资，广泛覆盖标的，追求市场平均收益，管理费用较低。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249920" y="3932555"/>
            <a:ext cx="340868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Dedicated型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294370" y="4619625"/>
            <a:ext cx="3355975" cy="870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低换手+低分散</a:t>
            </a:r>
            <a:r>
              <a:rPr lang="en-US" sz="1400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，集中持股长期持有，深度研究驱动，对特定股票影响力显著，价值投资取向。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5A0C-07EA-035A-9470-3F3F02CF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665067-D29A-A9E9-9259-AFF990573E32}"/>
              </a:ext>
            </a:extLst>
          </p:cNvPr>
          <p:cNvSpPr/>
          <p:nvPr/>
        </p:nvSpPr>
        <p:spPr>
          <a:xfrm>
            <a:off x="962342" y="1604682"/>
            <a:ext cx="4876800" cy="76200"/>
          </a:xfrm>
          <a:prstGeom prst="parallelogram">
            <a:avLst>
              <a:gd name="adj" fmla="val 25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3851CA-BF98-182F-C343-7602FF50DABF}"/>
              </a:ext>
            </a:extLst>
          </p:cNvPr>
          <p:cNvSpPr/>
          <p:nvPr/>
        </p:nvSpPr>
        <p:spPr>
          <a:xfrm>
            <a:off x="988060" y="704215"/>
            <a:ext cx="6344285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基金分类结果分布表</a:t>
            </a:r>
            <a:endParaRPr 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Image 1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C015AADF-D5B3-6BC4-2346-607F297E9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F1137A9-E6CD-6E2F-C26D-5449DD54CE69}"/>
              </a:ext>
            </a:extLst>
          </p:cNvPr>
          <p:cNvSpPr/>
          <p:nvPr/>
        </p:nvSpPr>
        <p:spPr>
          <a:xfrm>
            <a:off x="1076960" y="2554605"/>
            <a:ext cx="5307330" cy="4039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932878-A236-BD9F-27A9-3FF75540F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18" y="1996574"/>
            <a:ext cx="5653242" cy="339796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2233523-F9E9-853C-64FE-73F31E04B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96574"/>
            <a:ext cx="5665778" cy="339796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8845015-A491-63CB-6E5A-2516B94295DF}"/>
              </a:ext>
            </a:extLst>
          </p:cNvPr>
          <p:cNvSpPr txBox="1"/>
          <p:nvPr/>
        </p:nvSpPr>
        <p:spPr>
          <a:xfrm>
            <a:off x="988060" y="5681322"/>
            <a:ext cx="92234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可以发现，调整数据范围前后，分类结构也依旧稳定，与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Bushee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经典文献一致，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Transient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Quasi-index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型基金主导市场，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Dedicated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型占比较低。</a:t>
            </a:r>
          </a:p>
        </p:txBody>
      </p:sp>
    </p:spTree>
    <p:extLst>
      <p:ext uri="{BB962C8B-B14F-4D97-AF65-F5344CB8AC3E}">
        <p14:creationId xmlns:p14="http://schemas.microsoft.com/office/powerpoint/2010/main" val="68844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股票被持股情况</a:t>
            </a:r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196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03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0CDB-B830-E6A5-19F8-DA2199E4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F2A00C6-C118-ADB4-11FA-E49CEAF5C348}"/>
              </a:ext>
            </a:extLst>
          </p:cNvPr>
          <p:cNvSpPr/>
          <p:nvPr/>
        </p:nvSpPr>
        <p:spPr>
          <a:xfrm>
            <a:off x="988060" y="7042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机构投资者投资结构的时间趋势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Image 0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E82CA5F2-E26E-0F36-8B12-F94DD2DA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700DCFC-A8CA-B9FF-E624-FB8E7DB648A4}"/>
              </a:ext>
            </a:extLst>
          </p:cNvPr>
          <p:cNvSpPr txBox="1"/>
          <p:nvPr/>
        </p:nvSpPr>
        <p:spPr>
          <a:xfrm>
            <a:off x="1983880" y="5025635"/>
            <a:ext cx="8224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2021-2025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的数据来看，长期视角下，可以得出以下结论：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、准指数型：远高于其他两类，且呈现下滑趋势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、交易型和专注型较为稳定。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0BAB9A-4DB2-603A-074C-757096B10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918" y="1469004"/>
            <a:ext cx="7171764" cy="355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9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A333-3B82-2338-2BF0-06D4492A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2124F78-39D8-A3E2-734C-3CB5DDDA16BD}"/>
              </a:ext>
            </a:extLst>
          </p:cNvPr>
          <p:cNvSpPr/>
          <p:nvPr/>
        </p:nvSpPr>
        <p:spPr>
          <a:xfrm>
            <a:off x="988060" y="7042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长期平均下，股票被基金持仓比例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Image 0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1E26C18E-E4EE-8D32-586B-E844F8002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0D07F7D4-D027-114C-0C8D-044DBAD3DD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0152314"/>
              </p:ext>
            </p:extLst>
          </p:nvPr>
        </p:nvGraphicFramePr>
        <p:xfrm>
          <a:off x="6096000" y="341058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B5B2F039-50EA-ED27-6EFB-DE6E315F8C77}"/>
              </a:ext>
            </a:extLst>
          </p:cNvPr>
          <p:cNvSpPr txBox="1"/>
          <p:nvPr/>
        </p:nvSpPr>
        <p:spPr>
          <a:xfrm>
            <a:off x="853590" y="3915765"/>
            <a:ext cx="429215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Quasi-index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平均持股占比最高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对多数股票均保持一定比例的配置。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Transient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次之；而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Dedicated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最低，呈现出明显的“高集中、低覆盖”特征。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B0E950-3C18-F639-2291-387DA79910B8}"/>
              </a:ext>
            </a:extLst>
          </p:cNvPr>
          <p:cNvSpPr txBox="1"/>
          <p:nvPr/>
        </p:nvSpPr>
        <p:spPr>
          <a:xfrm>
            <a:off x="1057835" y="2116140"/>
            <a:ext cx="2761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总的来看，平均每只股票被三类基金的持有结构：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195266B-60E0-2DC4-E009-2863B3815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520424"/>
              </p:ext>
            </p:extLst>
          </p:nvPr>
        </p:nvGraphicFramePr>
        <p:xfrm>
          <a:off x="4347883" y="1676870"/>
          <a:ext cx="7100046" cy="1300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290">
                  <a:extLst>
                    <a:ext uri="{9D8B030D-6E8A-4147-A177-3AD203B41FA5}">
                      <a16:colId xmlns:a16="http://schemas.microsoft.com/office/drawing/2014/main" val="198671809"/>
                    </a:ext>
                  </a:extLst>
                </a:gridCol>
                <a:gridCol w="1341793">
                  <a:extLst>
                    <a:ext uri="{9D8B030D-6E8A-4147-A177-3AD203B41FA5}">
                      <a16:colId xmlns:a16="http://schemas.microsoft.com/office/drawing/2014/main" val="3021609108"/>
                    </a:ext>
                  </a:extLst>
                </a:gridCol>
                <a:gridCol w="1882981">
                  <a:extLst>
                    <a:ext uri="{9D8B030D-6E8A-4147-A177-3AD203B41FA5}">
                      <a16:colId xmlns:a16="http://schemas.microsoft.com/office/drawing/2014/main" val="4193822126"/>
                    </a:ext>
                  </a:extLst>
                </a:gridCol>
                <a:gridCol w="1779330">
                  <a:extLst>
                    <a:ext uri="{9D8B030D-6E8A-4147-A177-3AD203B41FA5}">
                      <a16:colId xmlns:a16="http://schemas.microsoft.com/office/drawing/2014/main" val="1050994404"/>
                    </a:ext>
                  </a:extLst>
                </a:gridCol>
                <a:gridCol w="794652">
                  <a:extLst>
                    <a:ext uri="{9D8B030D-6E8A-4147-A177-3AD203B41FA5}">
                      <a16:colId xmlns:a16="http://schemas.microsoft.com/office/drawing/2014/main" val="1584139975"/>
                    </a:ext>
                  </a:extLst>
                </a:gridCol>
              </a:tblGrid>
              <a:tr h="43927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Dedicated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Quasi-Index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Transient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Total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895694085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600" b="1" u="none" strike="noStrike">
                          <a:effectLst/>
                        </a:rPr>
                        <a:t>2023-2025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0.079%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>
                          <a:effectLst/>
                        </a:rPr>
                        <a:t>1.753%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>
                          <a:effectLst/>
                        </a:rPr>
                        <a:t>0.625%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>
                          <a:effectLst/>
                        </a:rPr>
                        <a:t>2.457%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8522597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600" b="1" u="none" strike="noStrike">
                          <a:effectLst/>
                        </a:rPr>
                        <a:t>2021-2025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0.0794%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1.8165%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0.7474%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2.643%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891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016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ABDE-20BF-122B-5BDD-7266AC09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AA2CE85-112C-40E2-ED1C-4DA8A5664535}"/>
              </a:ext>
            </a:extLst>
          </p:cNvPr>
          <p:cNvSpPr/>
          <p:nvPr/>
        </p:nvSpPr>
        <p:spPr>
          <a:xfrm>
            <a:off x="988060" y="7042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扩充样本期后</a:t>
            </a:r>
          </a:p>
        </p:txBody>
      </p:sp>
      <p:pic>
        <p:nvPicPr>
          <p:cNvPr id="5" name="Image 0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06FBD0B9-F9E8-A0B5-FD41-1CC0A813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48A32D7D-C400-B3C7-1F11-50ECA0761AB1}"/>
              </a:ext>
            </a:extLst>
          </p:cNvPr>
          <p:cNvSpPr/>
          <p:nvPr/>
        </p:nvSpPr>
        <p:spPr>
          <a:xfrm>
            <a:off x="695642" y="3335703"/>
            <a:ext cx="391731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被持股比例保持稳健性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DDA742C-C0E5-482D-CC18-64BED00548AE}"/>
              </a:ext>
            </a:extLst>
          </p:cNvPr>
          <p:cNvSpPr/>
          <p:nvPr/>
        </p:nvSpPr>
        <p:spPr>
          <a:xfrm>
            <a:off x="695642" y="3839634"/>
            <a:ext cx="4945757" cy="7129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股票被三类不同基金的持股占比总的来看变动不大。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ECE31C-A4D2-7ECF-AFC5-F147EB17052A}"/>
              </a:ext>
            </a:extLst>
          </p:cNvPr>
          <p:cNvSpPr/>
          <p:nvPr/>
        </p:nvSpPr>
        <p:spPr>
          <a:xfrm>
            <a:off x="695642" y="4776612"/>
            <a:ext cx="5508083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分类结构稳定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2B8642-F956-56C0-ACF1-FE20554AD1F7}"/>
              </a:ext>
            </a:extLst>
          </p:cNvPr>
          <p:cNvSpPr/>
          <p:nvPr/>
        </p:nvSpPr>
        <p:spPr>
          <a:xfrm>
            <a:off x="695642" y="5255153"/>
            <a:ext cx="5313921" cy="3485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FDFB4C5-67C2-5CE0-5CF7-69039FAB8E50}"/>
              </a:ext>
            </a:extLst>
          </p:cNvPr>
          <p:cNvSpPr/>
          <p:nvPr/>
        </p:nvSpPr>
        <p:spPr>
          <a:xfrm>
            <a:off x="6591820" y="3665031"/>
            <a:ext cx="5508083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1C4593-7C5B-D890-34A7-9A9D126F64B7}"/>
              </a:ext>
            </a:extLst>
          </p:cNvPr>
          <p:cNvSpPr txBox="1"/>
          <p:nvPr/>
        </p:nvSpPr>
        <p:spPr>
          <a:xfrm>
            <a:off x="695642" y="5382416"/>
            <a:ext cx="46437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基金类型占比基本不变，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Transient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Quasi-index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仍占主导，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Dedicated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维持低位，投资者的行为模式未发生显著转变。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1419149-8BB0-1392-A605-A4A0C53C4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155391"/>
              </p:ext>
            </p:extLst>
          </p:nvPr>
        </p:nvGraphicFramePr>
        <p:xfrm>
          <a:off x="2653702" y="1594427"/>
          <a:ext cx="7100046" cy="1300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1290">
                  <a:extLst>
                    <a:ext uri="{9D8B030D-6E8A-4147-A177-3AD203B41FA5}">
                      <a16:colId xmlns:a16="http://schemas.microsoft.com/office/drawing/2014/main" val="198671809"/>
                    </a:ext>
                  </a:extLst>
                </a:gridCol>
                <a:gridCol w="1341793">
                  <a:extLst>
                    <a:ext uri="{9D8B030D-6E8A-4147-A177-3AD203B41FA5}">
                      <a16:colId xmlns:a16="http://schemas.microsoft.com/office/drawing/2014/main" val="3021609108"/>
                    </a:ext>
                  </a:extLst>
                </a:gridCol>
                <a:gridCol w="1882981">
                  <a:extLst>
                    <a:ext uri="{9D8B030D-6E8A-4147-A177-3AD203B41FA5}">
                      <a16:colId xmlns:a16="http://schemas.microsoft.com/office/drawing/2014/main" val="4193822126"/>
                    </a:ext>
                  </a:extLst>
                </a:gridCol>
                <a:gridCol w="1779330">
                  <a:extLst>
                    <a:ext uri="{9D8B030D-6E8A-4147-A177-3AD203B41FA5}">
                      <a16:colId xmlns:a16="http://schemas.microsoft.com/office/drawing/2014/main" val="1050994404"/>
                    </a:ext>
                  </a:extLst>
                </a:gridCol>
                <a:gridCol w="794652">
                  <a:extLst>
                    <a:ext uri="{9D8B030D-6E8A-4147-A177-3AD203B41FA5}">
                      <a16:colId xmlns:a16="http://schemas.microsoft.com/office/drawing/2014/main" val="1584139975"/>
                    </a:ext>
                  </a:extLst>
                </a:gridCol>
              </a:tblGrid>
              <a:tr h="43927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Dedicated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Quasi-Index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Transient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Total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895694085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600" b="1" u="none" strike="noStrike">
                          <a:effectLst/>
                        </a:rPr>
                        <a:t>2023-2025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0.079%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>
                          <a:effectLst/>
                        </a:rPr>
                        <a:t>1.753%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>
                          <a:effectLst/>
                        </a:rPr>
                        <a:t>0.625%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>
                          <a:effectLst/>
                        </a:rPr>
                        <a:t>2.457%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8522597"/>
                  </a:ext>
                </a:extLst>
              </a:tr>
              <a:tr h="430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600" b="1" u="none" strike="noStrike">
                          <a:effectLst/>
                        </a:rPr>
                        <a:t>2021-2025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0.0794%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1.8165%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0.7474%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u="none" strike="noStrike" dirty="0">
                          <a:effectLst/>
                        </a:rPr>
                        <a:t>2.643%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891426"/>
                  </a:ext>
                </a:extLst>
              </a:tr>
            </a:tbl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6138E9A8-4596-4E6F-BA44-88FE9C2171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333875"/>
              </p:ext>
            </p:extLst>
          </p:nvPr>
        </p:nvGraphicFramePr>
        <p:xfrm>
          <a:off x="6009563" y="3429000"/>
          <a:ext cx="4632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41376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678A-E346-073D-3756-46EBF563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4654542-79BF-0009-FD6F-D0B7BD33E7E2}"/>
              </a:ext>
            </a:extLst>
          </p:cNvPr>
          <p:cNvSpPr/>
          <p:nvPr/>
        </p:nvSpPr>
        <p:spPr>
          <a:xfrm>
            <a:off x="988060" y="7042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不同类型基金对不同类型股票的偏好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Image 0" descr="https://kimi-img.moonshot.cn/pub/slides/slides_tmpl/image/25-09-04-16:27:00-d2skql61bb2p4onbqhag.png">
            <a:extLst>
              <a:ext uri="{FF2B5EF4-FFF2-40B4-BE49-F238E27FC236}">
                <a16:creationId xmlns:a16="http://schemas.microsoft.com/office/drawing/2014/main" id="{964F2CB7-37B1-8A05-E01A-086F7750B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9742E3F-58F4-C6C6-1266-391ABF211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45" y="1676993"/>
            <a:ext cx="10676965" cy="35040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D2D6559-CD62-46B2-4E00-44C5A35ADF44}"/>
              </a:ext>
            </a:extLst>
          </p:cNvPr>
          <p:cNvSpPr txBox="1"/>
          <p:nvPr/>
        </p:nvSpPr>
        <p:spPr>
          <a:xfrm>
            <a:off x="2608730" y="5257615"/>
            <a:ext cx="68848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三类机构投资者均表现出对大盘股的明显偏好，但这种偏好程度存在差异：专注型（</a:t>
            </a:r>
            <a:r>
              <a:rPr lang="en-US" altLang="zh-CN" dirty="0"/>
              <a:t>Dedicated</a:t>
            </a:r>
            <a:r>
              <a:rPr lang="zh-CN" altLang="en-US" dirty="0"/>
              <a:t>）最强，其次是准指数型（</a:t>
            </a:r>
            <a:r>
              <a:rPr lang="en-US" altLang="zh-CN" dirty="0"/>
              <a:t>Quasi-index</a:t>
            </a:r>
            <a:r>
              <a:rPr lang="zh-CN" altLang="en-US" dirty="0"/>
              <a:t>），而交易型（</a:t>
            </a:r>
            <a:r>
              <a:rPr lang="en-US" altLang="zh-CN" dirty="0"/>
              <a:t>Transient</a:t>
            </a:r>
            <a:r>
              <a:rPr lang="zh-CN" altLang="en-US" dirty="0"/>
              <a:t>）相对更分散，更愿意配置小盘股。</a:t>
            </a:r>
          </a:p>
        </p:txBody>
      </p:sp>
    </p:spTree>
    <p:extLst>
      <p:ext uri="{BB962C8B-B14F-4D97-AF65-F5344CB8AC3E}">
        <p14:creationId xmlns:p14="http://schemas.microsoft.com/office/powerpoint/2010/main" val="216887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2-d2skqlm1bb2p4onbqhhg.png"/>
          <p:cNvPicPr>
            <a:picLocks noChangeAspect="1"/>
          </p:cNvPicPr>
          <p:nvPr/>
        </p:nvPicPr>
        <p:blipFill>
          <a:blip r:embed="rId3"/>
          <a:srcRect l="84" r="84"/>
          <a:stretch/>
        </p:blipFill>
        <p:spPr>
          <a:xfrm>
            <a:off x="7255510" y="8890"/>
            <a:ext cx="4936490" cy="68402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72350" y="0"/>
            <a:ext cx="1727200" cy="5556885"/>
          </a:xfrm>
          <a:prstGeom prst="parallelogram">
            <a:avLst>
              <a:gd name="adj" fmla="val 84115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168515" y="2509520"/>
            <a:ext cx="1377950" cy="4348480"/>
          </a:xfrm>
          <a:prstGeom prst="parallelogram">
            <a:avLst>
              <a:gd name="adj" fmla="val 82610"/>
            </a:avLst>
          </a:prstGeom>
          <a:gradFill flip="none" rotWithShape="1">
            <a:gsLst>
              <a:gs pos="0">
                <a:srgbClr val="EBEBEB"/>
              </a:gs>
              <a:gs pos="30000">
                <a:srgbClr val="EBEBEB"/>
              </a:gs>
              <a:gs pos="100000">
                <a:srgbClr val="EBEBEB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988060" y="704215"/>
            <a:ext cx="1053465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111111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结论分析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2342" y="2480802"/>
            <a:ext cx="5848350" cy="18417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11111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不同类型基金在股票层面的持股结构存在显著差异：准指数型基金覆盖最广，交易型基金配置较为均衡，专注型基金则集中于少数股票。</a:t>
            </a:r>
            <a:endParaRPr lang="en-US" altLang="zh-CN" sz="1600" dirty="0">
              <a:solidFill>
                <a:srgbClr val="111111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机构投资者结构在时间上存在显著变化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不同类型机构在股票规模维度上具有系统性差异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5320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391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23010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068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90700" y="469900"/>
            <a:ext cx="106680" cy="106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7454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Image 0" descr="https://kimi-img.moonshot.cn/pub/slides/slides_tmpl/image/25-09-04-16:27:05-d2skqme1bb2p4onbqi10.png"/>
          <p:cNvPicPr>
            <a:picLocks noChangeAspect="1"/>
          </p:cNvPicPr>
          <p:nvPr/>
        </p:nvPicPr>
        <p:blipFill>
          <a:blip r:embed="rId3"/>
          <a:srcRect l="17548" r="23949" b="14559"/>
          <a:stretch/>
        </p:blipFill>
        <p:spPr>
          <a:xfrm rot="16200000">
            <a:off x="5955983" y="612140"/>
            <a:ext cx="6848475" cy="5623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5320" y="2484382"/>
            <a:ext cx="7026275" cy="1015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感谢观看</a:t>
            </a:r>
            <a:endParaRPr lang="en-US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4045585"/>
            <a:ext cx="5954395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THANK YOU FOR WATCHING</a:t>
            </a:r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355</TotalTime>
  <Words>619</Words>
  <Application>Microsoft Office PowerPoint</Application>
  <PresentationFormat>宽屏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黑体</vt:lpstr>
      <vt:lpstr>宋体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Bushee基金分类与股票持仓结构分析</dc:title>
  <dc:subject>Bushee基金分类与股票持仓结构分析</dc:subject>
  <dc:creator>Kimi</dc:creator>
  <cp:lastModifiedBy>Phoenix MA</cp:lastModifiedBy>
  <cp:revision>48</cp:revision>
  <dcterms:created xsi:type="dcterms:W3CDTF">2026-04-16T06:40:02Z</dcterms:created>
  <dcterms:modified xsi:type="dcterms:W3CDTF">2026-04-16T16:47:07Z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ushee基金分类与股票持仓结构分析","ContentProducer":"001191110108MACG2KBH8F10000","ProduceID":"19d9502f-9972-8978-8000-0000183e4995","ReservedCode1":"","ContentPropagator":"001191110108MACG2KBH8F20000","PropagateID":"19d9502f-9972-8978-8000-0000183e4995","ReservedCode2":""}</vt:lpwstr>
  </property>
</Properties>
</file>