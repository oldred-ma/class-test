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2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4" r:id="rId7"/>
    <p:sldId id="263" r:id="rId8"/>
    <p:sldId id="272" r:id="rId9"/>
    <p:sldId id="266" r:id="rId10"/>
    <p:sldId id="275" r:id="rId11"/>
    <p:sldId id="273" r:id="rId12"/>
    <p:sldId id="274" r:id="rId13"/>
    <p:sldId id="276" r:id="rId14"/>
    <p:sldId id="270" r:id="rId15"/>
    <p:sldId id="271" r:id="rId16"/>
  </p:sldIdLst>
  <p:sldSz cx="12192000" cy="6858000"/>
  <p:notesSz cx="6858000" cy="12192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主题样式 2 - 强调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8603FDC-E32A-4AB5-989C-0864C3EAD2B8}" styleName="主题样式 2 - 强调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主题样式 2 - 强调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主题样式 2 - 强调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主题样式 2 - 强调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Trae%20project\Bushee\result\StockHoldRatio_ByFundType_Avg9Period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Trae%20project\Bushee\result\StockHoldRatio_ByFundType_Avg9Period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Trae%20project\Bushee\result\StockHoldRatio_ByFundType_Avg9Period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D:\Trae%20project\Bushee\result\StockHoldRatio_ByFundType_Avg9Period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zh-CN" sz="1800" b="1" i="0" u="none" strike="noStrike" kern="1200" baseline="0">
                <a:solidFill>
                  <a:sysClr val="windowText" lastClr="000000">
                    <a:lumMod val="75000"/>
                    <a:lumOff val="25000"/>
                  </a:sysClr>
                </a:solidFill>
              </a:rPr>
              <a:t>基金分类结果（</a:t>
            </a:r>
            <a:r>
              <a:rPr lang="en-US" altLang="zh-CN" sz="1800" b="1" i="0" u="none" strike="noStrike" kern="1200" baseline="0">
                <a:solidFill>
                  <a:sysClr val="windowText" lastClr="000000">
                    <a:lumMod val="75000"/>
                    <a:lumOff val="25000"/>
                  </a:sysClr>
                </a:solidFill>
              </a:rPr>
              <a:t>2021-2025</a:t>
            </a:r>
            <a:r>
              <a:rPr lang="zh-CN" altLang="en-US" sz="1800" b="1" i="0" u="none" strike="noStrike" kern="1200" baseline="0">
                <a:solidFill>
                  <a:sysClr val="windowText" lastClr="000000">
                    <a:lumMod val="75000"/>
                    <a:lumOff val="25000"/>
                  </a:sysClr>
                </a:solidFill>
              </a:rPr>
              <a:t>）</a:t>
            </a:r>
            <a:endParaRPr lang="zh-CN" altLang="zh-CN" sz="1800" b="1" i="0" u="none" strike="noStrike" kern="1200" baseline="0">
              <a:solidFill>
                <a:sysClr val="windowText" lastClr="000000">
                  <a:lumMod val="75000"/>
                  <a:lumOff val="25000"/>
                </a:sys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zh-CN" altLang="zh-CN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9D27-4BC5-96E1-248609008266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9D27-4BC5-96E1-248609008266}"/>
              </c:ext>
            </c:extLst>
          </c:dPt>
          <c:dPt>
            <c:idx val="2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9D27-4BC5-96E1-248609008266}"/>
              </c:ext>
            </c:extLst>
          </c:dPt>
          <c:dLbls>
            <c:dLbl>
              <c:idx val="0"/>
              <c:layout>
                <c:manualLayout>
                  <c:x val="-2.0479221347331582E-2"/>
                  <c:y val="0.11341608340624085"/>
                </c:manualLayout>
              </c:layout>
              <c:tx>
                <c:rich>
                  <a:bodyPr/>
                  <a:lstStyle/>
                  <a:p>
                    <a:r>
                      <a:rPr lang="en-US" altLang="zh-CN" dirty="0"/>
                      <a:t>1.37%</a:t>
                    </a:r>
                  </a:p>
                </c:rich>
              </c:tx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D27-4BC5-96E1-248609008266}"/>
                </c:ext>
              </c:extLst>
            </c:dLbl>
            <c:dLbl>
              <c:idx val="1"/>
              <c:layout>
                <c:manualLayout>
                  <c:x val="-0.18153915135608048"/>
                  <c:y val="1.8535651793525725E-2"/>
                </c:manualLayout>
              </c:layout>
              <c:tx>
                <c:rich>
                  <a:bodyPr/>
                  <a:lstStyle/>
                  <a:p>
                    <a:r>
                      <a:rPr lang="en-US" altLang="zh-CN" dirty="0"/>
                      <a:t>29.01</a:t>
                    </a:r>
                  </a:p>
                </c:rich>
              </c:tx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D27-4BC5-96E1-248609008266}"/>
                </c:ext>
              </c:extLst>
            </c:dLbl>
            <c:dLbl>
              <c:idx val="2"/>
              <c:layout>
                <c:manualLayout>
                  <c:x val="0.12677930883639543"/>
                  <c:y val="0.11932997958588501"/>
                </c:manualLayout>
              </c:layout>
              <c:tx>
                <c:rich>
                  <a:bodyPr/>
                  <a:lstStyle/>
                  <a:p>
                    <a:r>
                      <a:rPr lang="en-US" altLang="zh-CN" dirty="0"/>
                      <a:t>69.62</a:t>
                    </a:r>
                  </a:p>
                </c:rich>
              </c:tx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9D27-4BC5-96E1-248609008266}"/>
                </c:ext>
              </c:extLst>
            </c:dLbl>
            <c:spPr>
              <a:pattFill prst="pct75">
                <a:fgClr>
                  <a:schemeClr val="dk1">
                    <a:lumMod val="75000"/>
                    <a:lumOff val="25000"/>
                  </a:schemeClr>
                </a:fgClr>
                <a:bgClr>
                  <a:schemeClr val="dk1">
                    <a:lumMod val="65000"/>
                    <a:lumOff val="35000"/>
                  </a:schemeClr>
                </a:bgClr>
              </a:patt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ctr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>
                  <a:solidFill>
                    <a:schemeClr val="dk1">
                      <a:lumMod val="50000"/>
                      <a:lumOff val="50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multiLvlStrRef>
              <c:f>Sheet2!$E$8:$F$10</c:f>
              <c:multiLvlStrCache>
                <c:ptCount val="3"/>
                <c:lvl>
                  <c:pt idx="0">
                    <c:v>Dedicated</c:v>
                  </c:pt>
                  <c:pt idx="1">
                    <c:v>Transient</c:v>
                  </c:pt>
                  <c:pt idx="2">
                    <c:v>Quasi-index</c:v>
                  </c:pt>
                </c:lvl>
                <c:lvl>
                  <c:pt idx="0">
                    <c:v>1.37%</c:v>
                  </c:pt>
                  <c:pt idx="1">
                    <c:v>29.01%</c:v>
                  </c:pt>
                  <c:pt idx="2">
                    <c:v>69.62%</c:v>
                  </c:pt>
                </c:lvl>
              </c:multiLvlStrCache>
            </c:multiLvlStrRef>
          </c:cat>
          <c:val>
            <c:numRef>
              <c:f>Sheet2!$G$8:$G$10</c:f>
              <c:numCache>
                <c:formatCode>General</c:formatCode>
                <c:ptCount val="3"/>
                <c:pt idx="0">
                  <c:v>102</c:v>
                </c:pt>
                <c:pt idx="1">
                  <c:v>2155</c:v>
                </c:pt>
                <c:pt idx="2">
                  <c:v>5172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27-4BC5-96E1-248609008266}"/>
            </c:ext>
          </c:extLst>
        </c:ser>
        <c:dLbls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solidFill>
          <a:schemeClr val="lt1">
            <a:lumMod val="95000"/>
            <a:alpha val="39000"/>
          </a:schemeClr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lt1"/>
        </a:gs>
        <a:gs pos="39000">
          <a:schemeClr val="lt1"/>
        </a:gs>
        <a:gs pos="100000">
          <a:schemeClr val="lt1">
            <a:lumMod val="75000"/>
          </a:schemeClr>
        </a:gs>
      </a:gsLst>
      <a:path path="circle">
        <a:fillToRect l="50000" t="-80000" r="50000" b="180000"/>
      </a:path>
      <a:tileRect/>
    </a:gradFill>
    <a:ln w="9525" cap="flat" cmpd="sng" algn="ctr">
      <a:solidFill>
        <a:schemeClr val="dk1">
          <a:lumMod val="25000"/>
          <a:lumOff val="75000"/>
        </a:schemeClr>
      </a:solidFill>
      <a:round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/>
              <a:t>基金分类结果（</a:t>
            </a:r>
            <a:r>
              <a:rPr lang="en-US"/>
              <a:t>2023-2025</a:t>
            </a:r>
            <a:r>
              <a:rPr lang="zh-CN"/>
              <a:t>）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>
        <c:manualLayout>
          <c:layoutTarget val="inner"/>
          <c:xMode val="edge"/>
          <c:yMode val="edge"/>
          <c:x val="0.15026837270341206"/>
          <c:y val="0.20555555555555555"/>
          <c:w val="0.44888888888888889"/>
          <c:h val="0.74814814814814812"/>
        </c:manualLayout>
      </c:layout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2E0D-4946-8745-1A17B3C3BC64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2E0D-4946-8745-1A17B3C3BC64}"/>
              </c:ext>
            </c:extLst>
          </c:dPt>
          <c:dPt>
            <c:idx val="2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2E0D-4946-8745-1A17B3C3BC64}"/>
              </c:ext>
            </c:extLst>
          </c:dPt>
          <c:dLbls>
            <c:dLbl>
              <c:idx val="0"/>
              <c:layout>
                <c:manualLayout>
                  <c:x val="-3.5618766404199524E-2"/>
                  <c:y val="0.1088644648585593"/>
                </c:manualLayout>
              </c:layout>
              <c:tx>
                <c:rich>
                  <a:bodyPr/>
                  <a:lstStyle/>
                  <a:p>
                    <a:r>
                      <a:rPr lang="en-US" altLang="zh-CN" dirty="0"/>
                      <a:t>2.50</a:t>
                    </a:r>
                  </a:p>
                </c:rich>
              </c:tx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E0D-4946-8745-1A17B3C3BC6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altLang="zh-CN" baseline="0" dirty="0"/>
                      <a:t>27.66</a:t>
                    </a:r>
                    <a:endParaRPr lang="en-US" altLang="zh-CN" dirty="0"/>
                  </a:p>
                </c:rich>
              </c:tx>
              <c:dLblPos val="ctr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E0D-4946-8745-1A17B3C3BC64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altLang="zh-CN" dirty="0"/>
                      <a:t>69.85</a:t>
                    </a:r>
                  </a:p>
                </c:rich>
              </c:tx>
              <c:dLblPos val="ctr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2E0D-4946-8745-1A17B3C3BC64}"/>
                </c:ext>
              </c:extLst>
            </c:dLbl>
            <c:spPr>
              <a:pattFill prst="pct75">
                <a:fgClr>
                  <a:schemeClr val="dk1">
                    <a:lumMod val="75000"/>
                    <a:lumOff val="25000"/>
                  </a:schemeClr>
                </a:fgClr>
                <a:bgClr>
                  <a:schemeClr val="dk1">
                    <a:lumMod val="65000"/>
                    <a:lumOff val="35000"/>
                  </a:schemeClr>
                </a:bgClr>
              </a:patt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1"/>
            <c:leaderLines>
              <c:spPr>
                <a:ln w="9525">
                  <a:solidFill>
                    <a:schemeClr val="dk1">
                      <a:lumMod val="50000"/>
                      <a:lumOff val="50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multiLvlStrRef>
              <c:f>Sheet2!$E$5:$F$7</c:f>
              <c:multiLvlStrCache>
                <c:ptCount val="3"/>
                <c:lvl>
                  <c:pt idx="0">
                    <c:v>Dedicated</c:v>
                  </c:pt>
                  <c:pt idx="1">
                    <c:v>Transient</c:v>
                  </c:pt>
                  <c:pt idx="2">
                    <c:v>Quasi-index</c:v>
                  </c:pt>
                </c:lvl>
                <c:lvl>
                  <c:pt idx="0">
                    <c:v>2.50%</c:v>
                  </c:pt>
                  <c:pt idx="1">
                    <c:v>27.66%</c:v>
                  </c:pt>
                  <c:pt idx="2">
                    <c:v>69.85%</c:v>
                  </c:pt>
                </c:lvl>
              </c:multiLvlStrCache>
            </c:multiLvlStrRef>
          </c:cat>
          <c:val>
            <c:numRef>
              <c:f>Sheet2!$G$5:$G$7</c:f>
              <c:numCache>
                <c:formatCode>General</c:formatCode>
                <c:ptCount val="3"/>
                <c:pt idx="0">
                  <c:v>231</c:v>
                </c:pt>
                <c:pt idx="1">
                  <c:v>2559</c:v>
                </c:pt>
                <c:pt idx="2">
                  <c:v>6463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E0D-4946-8745-1A17B3C3BC64}"/>
            </c:ext>
          </c:extLst>
        </c:ser>
        <c:dLbls>
          <c:dLblPos val="ctr"/>
          <c:showLegendKey val="0"/>
          <c:showVal val="0"/>
          <c:showCatName val="1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solidFill>
          <a:schemeClr val="lt1">
            <a:lumMod val="95000"/>
            <a:alpha val="39000"/>
          </a:schemeClr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lt1"/>
        </a:gs>
        <a:gs pos="39000">
          <a:schemeClr val="lt1"/>
        </a:gs>
        <a:gs pos="100000">
          <a:schemeClr val="lt1">
            <a:lumMod val="75000"/>
          </a:schemeClr>
        </a:gs>
      </a:gsLst>
      <a:path path="circle">
        <a:fillToRect l="50000" t="-80000" r="50000" b="180000"/>
      </a:path>
      <a:tileRect/>
    </a:gradFill>
    <a:ln w="9525" cap="flat" cmpd="sng" algn="ctr">
      <a:solidFill>
        <a:schemeClr val="dk1">
          <a:lumMod val="25000"/>
          <a:lumOff val="75000"/>
        </a:schemeClr>
      </a:solidFill>
      <a:round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/>
              <a:t>股票被持股情况（</a:t>
            </a:r>
            <a:r>
              <a:rPr lang="en-US" altLang="zh-CN"/>
              <a:t>2023-2025</a:t>
            </a:r>
            <a:r>
              <a:rPr lang="zh-CN" altLang="en-US"/>
              <a:t>）</a:t>
            </a:r>
            <a:endParaRPr lang="zh-C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Sheet2!$B$1:$D$1</c:f>
              <c:strCache>
                <c:ptCount val="3"/>
                <c:pt idx="0">
                  <c:v>Dedicated</c:v>
                </c:pt>
                <c:pt idx="1">
                  <c:v>QuasiIndex</c:v>
                </c:pt>
                <c:pt idx="2">
                  <c:v>Transient</c:v>
                </c:pt>
              </c:strCache>
            </c:strRef>
          </c:cat>
          <c:val>
            <c:numRef>
              <c:f>Sheet2!$B$2:$D$2</c:f>
              <c:numCache>
                <c:formatCode>0.0000%</c:formatCode>
                <c:ptCount val="3"/>
                <c:pt idx="0">
                  <c:v>8.0723000000000004E-4</c:v>
                </c:pt>
                <c:pt idx="1">
                  <c:v>1.2361373E-2</c:v>
                </c:pt>
                <c:pt idx="2">
                  <c:v>3.8818049999999999E-3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13-4105-9C63-A5610164A76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232815152"/>
        <c:axId val="232817552"/>
      </c:barChart>
      <c:catAx>
        <c:axId val="232815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232817552"/>
        <c:crosses val="autoZero"/>
        <c:auto val="1"/>
        <c:lblAlgn val="ctr"/>
        <c:lblOffset val="100"/>
        <c:noMultiLvlLbl val="0"/>
      </c:catAx>
      <c:valAx>
        <c:axId val="2328175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232815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/>
              <a:t>股票被持股情况（</a:t>
            </a:r>
            <a:r>
              <a:rPr lang="en-US" altLang="zh-CN"/>
              <a:t>2021-2025</a:t>
            </a:r>
            <a:r>
              <a:rPr lang="zh-CN" altLang="en-US"/>
              <a:t>）</a:t>
            </a:r>
            <a:endParaRPr lang="zh-C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Sheet2!$B$1:$D$1</c:f>
              <c:strCache>
                <c:ptCount val="3"/>
                <c:pt idx="0">
                  <c:v>Dedicated</c:v>
                </c:pt>
                <c:pt idx="1">
                  <c:v>QuasiIndex</c:v>
                </c:pt>
                <c:pt idx="2">
                  <c:v>Transient</c:v>
                </c:pt>
              </c:strCache>
            </c:strRef>
          </c:cat>
          <c:val>
            <c:numRef>
              <c:f>Sheet2!$B$3:$D$3</c:f>
              <c:numCache>
                <c:formatCode>0.0000%</c:formatCode>
                <c:ptCount val="3"/>
                <c:pt idx="0">
                  <c:v>7.5672386364911528E-4</c:v>
                </c:pt>
                <c:pt idx="1">
                  <c:v>9.9389256459626284E-3</c:v>
                </c:pt>
                <c:pt idx="2">
                  <c:v>5.589517483886787E-3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FE-421D-8C92-D9DD6D4A40B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232815152"/>
        <c:axId val="232817552"/>
      </c:barChart>
      <c:catAx>
        <c:axId val="232815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232817552"/>
        <c:crosses val="autoZero"/>
        <c:auto val="1"/>
        <c:lblAlgn val="ctr"/>
        <c:lblOffset val="100"/>
        <c:noMultiLvlLbl val="0"/>
      </c:catAx>
      <c:valAx>
        <c:axId val="2328175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232815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3">
  <cs:axisTitle>
    <cs:lnRef idx="0"/>
    <cs:fillRef idx="0"/>
    <cs:effectRef idx="0"/>
    <cs:fontRef idx="minor">
      <a:schemeClr val="dk1">
        <a:lumMod val="75000"/>
        <a:lumOff val="2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  <a:tileRect/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53">
  <cs:axisTitle>
    <cs:lnRef idx="0"/>
    <cs:fillRef idx="0"/>
    <cs:effectRef idx="0"/>
    <cs:fontRef idx="minor">
      <a:schemeClr val="dk1">
        <a:lumMod val="75000"/>
        <a:lumOff val="2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  <a:tileRect/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95745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3446-747F-CF68-DD4D-E003ACB80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FCE8B0-E164-110C-E0D4-ED75629C7E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39FBA3-6672-6A30-BE68-238C94A158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FF19EA-CD02-4E78-B8BF-F05D22DB5A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1648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84BD1-9B71-CC14-575D-A498D5108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8FDF07-409F-4DA7-1737-C6485CD36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CF04E2-F320-AD25-A55F-98CB155505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AB9D35-0880-8C93-6891-F35CFEDC95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8760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5384B-7068-E442-F39A-0357DBA3B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38AE8C-DCDF-F5E7-DE8C-6FA341A2CE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846041-2800-62AD-0B9A-17C4ABF9EB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474534-3162-3B1C-7565-C469FE0CAA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3495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B6E82-BD7C-C98D-3004-F6931F5D9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55C7ED-1D22-AAF8-5A58-F761047F2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730B3D-A787-21FC-03B1-46A7C8C80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7BCDE-2535-9345-283F-BED41A4C46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2918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B4940-3B7F-7CCE-0C1D-847EBC8A3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06013E-1CA6-916A-6D21-7FD4E3F78C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85626D-B97C-8C97-7064-23BB34B8F0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28920F-04F8-C9C3-242A-CEAC407F12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5446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6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4.png"/><Relationship Id="rId5" Type="http://schemas.openxmlformats.org/officeDocument/2006/relationships/image" Target="../media/image9.svg"/><Relationship Id="rId15" Type="http://schemas.openxmlformats.org/officeDocument/2006/relationships/image" Target="../media/image18.png"/><Relationship Id="rId10" Type="http://schemas.openxmlformats.org/officeDocument/2006/relationships/image" Target="../media/image13.svg"/><Relationship Id="rId4" Type="http://schemas.openxmlformats.org/officeDocument/2006/relationships/image" Target="../media/image8.sv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860" y="2007235"/>
            <a:ext cx="6565265" cy="175432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Bushee基金分类与股票持仓结构分析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25990" y="4654288"/>
            <a:ext cx="2170059" cy="44640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572135" y="4653130"/>
            <a:ext cx="2477770" cy="40011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2000" dirty="0">
                <a:solidFill>
                  <a:srgbClr val="232323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汇报人</a:t>
            </a:r>
            <a:r>
              <a:rPr lang="en-US" sz="2000" dirty="0">
                <a:solidFill>
                  <a:srgbClr val="232323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:</a:t>
            </a:r>
            <a:r>
              <a:rPr lang="zh-CN" altLang="en-US" sz="2000" dirty="0">
                <a:solidFill>
                  <a:srgbClr val="232323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马天玮 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52805" y="469900"/>
            <a:ext cx="106680" cy="1066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136650" y="469900"/>
            <a:ext cx="106680" cy="10668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420495" y="469900"/>
            <a:ext cx="106680" cy="1066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704340" y="469900"/>
            <a:ext cx="106680" cy="10668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988185" y="469900"/>
            <a:ext cx="106680" cy="1066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272030" y="469900"/>
            <a:ext cx="106680" cy="10668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13" name="Image 0" descr="https://kimi-img.moonshot.cn/pub/slides/slides_tmpl/image/25-09-04-16:27:00-d2skql61bb2p4onbqhb0.png"/>
          <p:cNvPicPr>
            <a:picLocks noChangeAspect="1"/>
          </p:cNvPicPr>
          <p:nvPr/>
        </p:nvPicPr>
        <p:blipFill>
          <a:blip r:embed="rId3"/>
          <a:srcRect l="10087" t="-37" b="305"/>
          <a:stretch/>
        </p:blipFill>
        <p:spPr>
          <a:xfrm>
            <a:off x="7114540" y="-1270"/>
            <a:ext cx="5077460" cy="68592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2402205"/>
          </a:xfrm>
          <a:prstGeom prst="rect">
            <a:avLst/>
          </a:prstGeom>
          <a:solidFill>
            <a:srgbClr val="232323"/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3" name="Image 0" descr="https://kimi-img.moonshot.cn/pub/slides/slides_tmpl/image/25-09-04-16:26:59-d2skqku1bb2p4onbqh8g.png"/>
          <p:cNvPicPr>
            <a:picLocks noChangeAspect="1"/>
          </p:cNvPicPr>
          <p:nvPr/>
        </p:nvPicPr>
        <p:blipFill>
          <a:blip r:embed="rId3"/>
          <a:srcRect t="68" b="68"/>
          <a:stretch/>
        </p:blipFill>
        <p:spPr>
          <a:xfrm flipH="1">
            <a:off x="332105" y="0"/>
            <a:ext cx="11205845" cy="9372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654233" y="1105535"/>
            <a:ext cx="2883535" cy="83121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Text 2"/>
          <p:cNvSpPr/>
          <p:nvPr/>
        </p:nvSpPr>
        <p:spPr>
          <a:xfrm>
            <a:off x="4654233" y="1105535"/>
            <a:ext cx="2883535" cy="831215"/>
          </a:xfrm>
          <a:prstGeom prst="rect">
            <a:avLst/>
          </a:prstGeom>
          <a:noFill/>
          <a:ln/>
        </p:spPr>
        <p:txBody>
          <a:bodyPr wrap="square" lIns="46863" tIns="90043" rIns="90043" bIns="46863" rtlCol="0" anchor="b"/>
          <a:lstStyle/>
          <a:p>
            <a:pPr algn="ctr">
              <a:lnSpc>
                <a:spcPct val="100000"/>
              </a:lnSpc>
            </a:pPr>
            <a:r>
              <a:rPr lang="en-US" sz="4800" dirty="0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目录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4653598" y="1812290"/>
            <a:ext cx="2884805" cy="40011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FFFFFF">
                    <a:alpha val="55000"/>
                  </a:srgbClr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CONTENTS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361440" y="3046095"/>
            <a:ext cx="2087880" cy="3017520"/>
          </a:xfrm>
          <a:prstGeom prst="roundRect">
            <a:avLst>
              <a:gd name="adj" fmla="val 6594"/>
            </a:avLst>
          </a:prstGeom>
          <a:solidFill>
            <a:srgbClr val="000000">
              <a:alpha val="0"/>
            </a:srgbClr>
          </a:solidFill>
          <a:ln w="19050">
            <a:solidFill>
              <a:srgbClr val="232323"/>
            </a:solidFill>
            <a:prstDash val="solid"/>
          </a:ln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145665" y="5902325"/>
            <a:ext cx="520065" cy="75565"/>
          </a:xfrm>
          <a:prstGeom prst="roundRect">
            <a:avLst>
              <a:gd name="adj" fmla="val 50000"/>
            </a:avLst>
          </a:prstGeom>
          <a:solidFill>
            <a:srgbClr val="232323"/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4994500" y="3017296"/>
            <a:ext cx="2087880" cy="3017520"/>
          </a:xfrm>
          <a:prstGeom prst="roundRect">
            <a:avLst>
              <a:gd name="adj" fmla="val 6594"/>
            </a:avLst>
          </a:prstGeom>
          <a:solidFill>
            <a:srgbClr val="000000">
              <a:alpha val="0"/>
            </a:srgbClr>
          </a:solidFill>
          <a:ln w="19050">
            <a:solidFill>
              <a:srgbClr val="232323"/>
            </a:solidFill>
            <a:prstDash val="solid"/>
          </a:ln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5642200" y="3327176"/>
            <a:ext cx="792480" cy="792480"/>
          </a:xfrm>
          <a:prstGeom prst="ellipse">
            <a:avLst/>
          </a:prstGeom>
          <a:solidFill>
            <a:srgbClr val="232323"/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5778725" y="5873526"/>
            <a:ext cx="520065" cy="75565"/>
          </a:xfrm>
          <a:prstGeom prst="roundRect">
            <a:avLst>
              <a:gd name="adj" fmla="val 50000"/>
            </a:avLst>
          </a:prstGeom>
          <a:solidFill>
            <a:srgbClr val="232323"/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8478110" y="3046095"/>
            <a:ext cx="2087880" cy="3017520"/>
          </a:xfrm>
          <a:prstGeom prst="roundRect">
            <a:avLst>
              <a:gd name="adj" fmla="val 6594"/>
            </a:avLst>
          </a:prstGeom>
          <a:solidFill>
            <a:srgbClr val="000000">
              <a:alpha val="0"/>
            </a:srgbClr>
          </a:solidFill>
          <a:ln w="19050">
            <a:solidFill>
              <a:srgbClr val="232323"/>
            </a:solidFill>
            <a:prstDash val="solid"/>
          </a:ln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9125810" y="3355975"/>
            <a:ext cx="792480" cy="792480"/>
          </a:xfrm>
          <a:prstGeom prst="ellipse">
            <a:avLst/>
          </a:prstGeom>
          <a:solidFill>
            <a:srgbClr val="232323"/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9262335" y="5902325"/>
            <a:ext cx="520065" cy="75565"/>
          </a:xfrm>
          <a:prstGeom prst="roundRect">
            <a:avLst>
              <a:gd name="adj" fmla="val 50000"/>
            </a:avLst>
          </a:prstGeom>
          <a:solidFill>
            <a:srgbClr val="232323"/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2009140" y="3355975"/>
            <a:ext cx="792480" cy="792480"/>
          </a:xfrm>
          <a:prstGeom prst="ellipse">
            <a:avLst/>
          </a:prstGeom>
          <a:solidFill>
            <a:srgbClr val="232323"/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2009140" y="3355975"/>
            <a:ext cx="792480" cy="792480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01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450340" y="4509135"/>
            <a:ext cx="1910080" cy="64633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数据来源与样本构建</a:t>
            </a:r>
            <a:endParaRPr lang="en-US" altLang="zh-CN" sz="1600" b="1" dirty="0">
              <a:solidFill>
                <a:srgbClr val="000000"/>
              </a:solidFill>
              <a:latin typeface="黑体" panose="02010609060101010101" pitchFamily="49" charset="-122"/>
              <a:ea typeface="黑体" panose="02010609060101010101" pitchFamily="49" charset="-122"/>
              <a:cs typeface="MiSans" pitchFamily="34" charset="-12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5582510" y="3496721"/>
            <a:ext cx="902335" cy="4597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02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5033235" y="4480336"/>
            <a:ext cx="1998345" cy="3693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b="1" dirty="0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基金分类结果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9063580" y="3525520"/>
            <a:ext cx="902335" cy="4597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03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8567010" y="4509135"/>
            <a:ext cx="1910080" cy="3693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800" b="1" dirty="0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股票被持股情况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4-16:27:00-d2skql61bb2p4onbqh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1514475"/>
            <a:ext cx="4189095" cy="377253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384165" y="3196590"/>
            <a:ext cx="5415915" cy="119888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Text 1"/>
          <p:cNvSpPr/>
          <p:nvPr/>
        </p:nvSpPr>
        <p:spPr>
          <a:xfrm>
            <a:off x="5384165" y="3196590"/>
            <a:ext cx="5415915" cy="1198880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t"/>
          <a:lstStyle/>
          <a:p>
            <a:pPr algn="just"/>
            <a:r>
              <a:rPr lang="zh-CN" altLang="zh-CN" sz="3600" b="1" dirty="0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数据来源与样本构建</a:t>
            </a:r>
            <a:endParaRPr lang="en-US" altLang="zh-CN" sz="36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Text 2"/>
          <p:cNvSpPr/>
          <p:nvPr/>
        </p:nvSpPr>
        <p:spPr>
          <a:xfrm>
            <a:off x="5384165" y="1945640"/>
            <a:ext cx="3390265" cy="11963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en-US" sz="7200" dirty="0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01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4-16:27:02-d2skqlm1bb2p4onbqhf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895" y="1985010"/>
            <a:ext cx="4468495" cy="393827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09-04-16:27:01-d2skqle1bb2p4onbqh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9070" y="3652520"/>
            <a:ext cx="603250" cy="6032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8060" y="704215"/>
            <a:ext cx="10534650" cy="58477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zh-CN" altLang="zh-CN" sz="3200" b="1" dirty="0">
                <a:latin typeface="黑体" panose="02010609060101010101" pitchFamily="49" charset="-122"/>
                <a:ea typeface="黑体" panose="02010609060101010101" pitchFamily="49" charset="-122"/>
              </a:rPr>
              <a:t>数据来源与样本</a:t>
            </a:r>
            <a:r>
              <a:rPr lang="zh-CN" altLang="en-US" sz="3200" b="1" dirty="0">
                <a:latin typeface="黑体" panose="02010609060101010101" pitchFamily="49" charset="-122"/>
                <a:ea typeface="黑体" panose="02010609060101010101" pitchFamily="49" charset="-122"/>
              </a:rPr>
              <a:t>规模</a:t>
            </a:r>
            <a:endParaRPr lang="en-US" altLang="zh-CN" sz="3200" b="1" dirty="0">
              <a:solidFill>
                <a:srgbClr val="000000"/>
              </a:solidFill>
              <a:latin typeface="黑体" panose="02010609060101010101" pitchFamily="49" charset="-122"/>
              <a:ea typeface="黑体" panose="02010609060101010101" pitchFamily="49" charset="-122"/>
              <a:cs typeface="MiSans" pitchFamily="34" charset="-120"/>
            </a:endParaRPr>
          </a:p>
        </p:txBody>
      </p:sp>
      <p:pic>
        <p:nvPicPr>
          <p:cNvPr id="5" name="Image 2" descr="https://kimi-img.moonshot.cn/pub/slides/slides_tmpl/image/25-09-04-16:27:00-d2skql61bb2p4onbqhag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28942" y="770420"/>
            <a:ext cx="533400" cy="36830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40680" y="2008505"/>
            <a:ext cx="5848350" cy="40011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en-US" sz="2000" b="1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数据来源</a:t>
            </a:r>
            <a:endParaRPr 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Text 2"/>
          <p:cNvSpPr/>
          <p:nvPr/>
        </p:nvSpPr>
        <p:spPr>
          <a:xfrm>
            <a:off x="5440680" y="2394585"/>
            <a:ext cx="5848350" cy="11426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6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数据来源于CSMAR数据库，</a:t>
            </a:r>
            <a:r>
              <a:rPr lang="zh-CN" altLang="en-US" sz="16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由于我国基金公司的季报，只会披露前</a:t>
            </a:r>
            <a:r>
              <a:rPr lang="en-US" altLang="zh-CN" sz="16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10</a:t>
            </a:r>
            <a:r>
              <a:rPr lang="zh-CN" altLang="en-US" sz="16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大重仓股。为了保证数据对齐，</a:t>
            </a:r>
            <a:r>
              <a:rPr lang="en-US" sz="16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提取基金季度前10大重仓股持仓信息</a:t>
            </a:r>
            <a:r>
              <a:rPr lang="zh-CN" altLang="en-US" sz="16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。</a:t>
            </a:r>
            <a:endParaRPr 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" name="Text 3"/>
          <p:cNvSpPr/>
          <p:nvPr/>
        </p:nvSpPr>
        <p:spPr>
          <a:xfrm>
            <a:off x="5440680" y="4078605"/>
            <a:ext cx="5848350" cy="40011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en-US" sz="2000" b="1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样本规模</a:t>
            </a:r>
            <a:endParaRPr 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Text 4"/>
          <p:cNvSpPr/>
          <p:nvPr/>
        </p:nvSpPr>
        <p:spPr>
          <a:xfrm>
            <a:off x="5440680" y="4464685"/>
            <a:ext cx="5848350" cy="11426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16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本研究的样本涵盖了</a:t>
            </a:r>
            <a:r>
              <a:rPr lang="en-US" altLang="zh-CN" sz="16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9254</a:t>
            </a:r>
            <a:r>
              <a:rPr lang="zh-CN" altLang="en-US" sz="16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只基金。初步实验使用的时间区间为</a:t>
            </a:r>
            <a:r>
              <a:rPr lang="en-US" altLang="zh-CN" sz="16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2023-2025</a:t>
            </a:r>
            <a:r>
              <a:rPr lang="zh-CN" altLang="en-US" sz="16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年（</a:t>
            </a:r>
            <a:r>
              <a:rPr lang="en-US" altLang="zh-CN" sz="16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期），后续为了增强研究的稳健性，我们补充了从</a:t>
            </a:r>
            <a:r>
              <a:rPr lang="en-US" altLang="zh-CN" sz="16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2021-2025</a:t>
            </a:r>
            <a:r>
              <a:rPr lang="zh-CN" altLang="en-US" sz="16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年的数据（共</a:t>
            </a:r>
            <a:r>
              <a:rPr lang="en-US" altLang="zh-CN" sz="16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17</a:t>
            </a:r>
            <a:r>
              <a:rPr lang="zh-CN" altLang="en-US" sz="16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期），并进行了对比分析。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2" descr="https://kimi-img.moonshot.cn/pub/slides/slides_tmpl/image/25-09-04-16:27:03-d2skqlu1bb2p4onbqhlg.sv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46230" y="6421120"/>
            <a:ext cx="328930" cy="32893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1513820" y="6417945"/>
            <a:ext cx="347345" cy="343535"/>
          </a:xfrm>
          <a:prstGeom prst="ellipse">
            <a:avLst/>
          </a:prstGeom>
          <a:solidFill>
            <a:srgbClr val="232323"/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8" name="Image 3" descr="https://kimi-img.moonshot.cn/pub/slides/slides_tmpl/image/25-09-04-16:27:03-d2skqlu1bb2p4onbqhl0.sv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330305" y="6432550"/>
            <a:ext cx="328930" cy="328930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988060" y="513715"/>
            <a:ext cx="10534650" cy="58477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3200" b="1">
                <a:solidFill>
                  <a:srgbClr val="111111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指标构建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10" name="Image 4" descr="https://kimi-img.moonshot.cn/pub/slides/slides_tmpl/image/25-09-04-16:27:00-d2skql61bb2p4onbqhag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28942" y="580481"/>
            <a:ext cx="533400" cy="368300"/>
          </a:xfrm>
          <a:prstGeom prst="rect">
            <a:avLst/>
          </a:prstGeom>
        </p:spPr>
      </p:pic>
      <p:sp>
        <p:nvSpPr>
          <p:cNvPr id="2" name="AutoShape 7">
            <a:extLst>
              <a:ext uri="{FF2B5EF4-FFF2-40B4-BE49-F238E27FC236}">
                <a16:creationId xmlns:a16="http://schemas.microsoft.com/office/drawing/2014/main" id="{449BCFC5-51C9-4575-CBD4-5D017711EBAE}"/>
              </a:ext>
            </a:extLst>
          </p:cNvPr>
          <p:cNvSpPr/>
          <p:nvPr/>
        </p:nvSpPr>
        <p:spPr>
          <a:xfrm>
            <a:off x="381000" y="1397000"/>
            <a:ext cx="3556000" cy="3937000"/>
          </a:xfrm>
          <a:prstGeom prst="roundRect">
            <a:avLst>
              <a:gd name="adj" fmla="val 4285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AutoShape 8">
            <a:extLst>
              <a:ext uri="{FF2B5EF4-FFF2-40B4-BE49-F238E27FC236}">
                <a16:creationId xmlns:a16="http://schemas.microsoft.com/office/drawing/2014/main" id="{B6238FB9-D476-2DB7-9A84-176E0736E79C}"/>
              </a:ext>
            </a:extLst>
          </p:cNvPr>
          <p:cNvSpPr/>
          <p:nvPr/>
        </p:nvSpPr>
        <p:spPr>
          <a:xfrm>
            <a:off x="381000" y="1397000"/>
            <a:ext cx="3556000" cy="762000"/>
          </a:xfrm>
          <a:prstGeom prst="roundRect">
            <a:avLst>
              <a:gd name="adj" fmla="val 2000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Picture 9">
            <a:extLst>
              <a:ext uri="{FF2B5EF4-FFF2-40B4-BE49-F238E27FC236}">
                <a16:creationId xmlns:a16="http://schemas.microsoft.com/office/drawing/2014/main" id="{39C7E930-02F4-A7B6-47A4-97DE7A22F03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1500" y="1549400"/>
            <a:ext cx="457200" cy="457200"/>
          </a:xfrm>
          <a:prstGeom prst="rect">
            <a:avLst/>
          </a:prstGeom>
        </p:spPr>
      </p:pic>
      <p:sp>
        <p:nvSpPr>
          <p:cNvPr id="5" name="AutoShape 10">
            <a:extLst>
              <a:ext uri="{FF2B5EF4-FFF2-40B4-BE49-F238E27FC236}">
                <a16:creationId xmlns:a16="http://schemas.microsoft.com/office/drawing/2014/main" id="{58A92AF8-785A-FC9D-DBA4-3F23CBC0C35B}"/>
              </a:ext>
            </a:extLst>
          </p:cNvPr>
          <p:cNvSpPr/>
          <p:nvPr/>
        </p:nvSpPr>
        <p:spPr>
          <a:xfrm>
            <a:off x="1143000" y="15240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Noto Sans SC"/>
                <a:sym typeface="Noto Sans SC"/>
              </a:rPr>
              <a:t>持仓集中度</a:t>
            </a:r>
            <a:endParaRPr lang="en-US" sz="11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AutoShape 11">
            <a:extLst>
              <a:ext uri="{FF2B5EF4-FFF2-40B4-BE49-F238E27FC236}">
                <a16:creationId xmlns:a16="http://schemas.microsoft.com/office/drawing/2014/main" id="{930F9DFA-D744-C9C9-AFD3-DB6A105F039D}"/>
              </a:ext>
            </a:extLst>
          </p:cNvPr>
          <p:cNvSpPr/>
          <p:nvPr/>
        </p:nvSpPr>
        <p:spPr>
          <a:xfrm>
            <a:off x="381000" y="2286000"/>
            <a:ext cx="3556000" cy="2921000"/>
          </a:xfrm>
          <a:prstGeom prst="roundRect">
            <a:avLst>
              <a:gd name="adj" fmla="val 521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2" name="AutoShape 12">
            <a:extLst>
              <a:ext uri="{FF2B5EF4-FFF2-40B4-BE49-F238E27FC236}">
                <a16:creationId xmlns:a16="http://schemas.microsoft.com/office/drawing/2014/main" id="{79415B57-19E1-879D-F02E-72D85729C002}"/>
              </a:ext>
            </a:extLst>
          </p:cNvPr>
          <p:cNvSpPr/>
          <p:nvPr/>
        </p:nvSpPr>
        <p:spPr>
          <a:xfrm>
            <a:off x="571500" y="2476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13" name="Connector 13">
            <a:extLst>
              <a:ext uri="{FF2B5EF4-FFF2-40B4-BE49-F238E27FC236}">
                <a16:creationId xmlns:a16="http://schemas.microsoft.com/office/drawing/2014/main" id="{0FB0FA51-7404-BBCA-5EDB-40937CBBD73B}"/>
              </a:ext>
            </a:extLst>
          </p:cNvPr>
          <p:cNvCxnSpPr/>
          <p:nvPr/>
        </p:nvCxnSpPr>
        <p:spPr>
          <a:xfrm rot="21586250">
            <a:off x="571513" y="2914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>
            <a:extLst>
              <a:ext uri="{FF2B5EF4-FFF2-40B4-BE49-F238E27FC236}">
                <a16:creationId xmlns:a16="http://schemas.microsoft.com/office/drawing/2014/main" id="{84DDBD2A-266F-18AE-C773-B0C096F64838}"/>
              </a:ext>
            </a:extLst>
          </p:cNvPr>
          <p:cNvSpPr/>
          <p:nvPr/>
        </p:nvSpPr>
        <p:spPr>
          <a:xfrm>
            <a:off x="571500" y="31115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33333"/>
              </a:lnSpc>
            </a:pPr>
            <a:endParaRPr lang="en-US" sz="1600" b="0" i="0" u="none" strike="noStrike" dirty="0">
              <a:solidFill>
                <a:srgbClr val="374151"/>
              </a:solidFill>
              <a:latin typeface="黑体" panose="02010609060101010101" pitchFamily="49" charset="-122"/>
              <a:ea typeface="黑体" panose="02010609060101010101" pitchFamily="49" charset="-122"/>
              <a:cs typeface="Noto Sans SC"/>
              <a:sym typeface="Noto Sans SC"/>
            </a:endParaRPr>
          </a:p>
        </p:txBody>
      </p:sp>
      <p:sp>
        <p:nvSpPr>
          <p:cNvPr id="15" name="AutoShape 15">
            <a:extLst>
              <a:ext uri="{FF2B5EF4-FFF2-40B4-BE49-F238E27FC236}">
                <a16:creationId xmlns:a16="http://schemas.microsoft.com/office/drawing/2014/main" id="{E0486420-DC51-B630-612F-91D8681C7CCE}"/>
              </a:ext>
            </a:extLst>
          </p:cNvPr>
          <p:cNvSpPr/>
          <p:nvPr/>
        </p:nvSpPr>
        <p:spPr>
          <a:xfrm>
            <a:off x="4318000" y="1397000"/>
            <a:ext cx="3556000" cy="3937000"/>
          </a:xfrm>
          <a:prstGeom prst="roundRect">
            <a:avLst>
              <a:gd name="adj" fmla="val 4285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6" name="AutoShape 16">
            <a:extLst>
              <a:ext uri="{FF2B5EF4-FFF2-40B4-BE49-F238E27FC236}">
                <a16:creationId xmlns:a16="http://schemas.microsoft.com/office/drawing/2014/main" id="{D2231092-1E5F-1C51-180E-630C6D135EC2}"/>
              </a:ext>
            </a:extLst>
          </p:cNvPr>
          <p:cNvSpPr/>
          <p:nvPr/>
        </p:nvSpPr>
        <p:spPr>
          <a:xfrm>
            <a:off x="4318000" y="1397000"/>
            <a:ext cx="3556000" cy="762000"/>
          </a:xfrm>
          <a:prstGeom prst="roundRect">
            <a:avLst>
              <a:gd name="adj" fmla="val 2000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17" name="Picture 17">
            <a:extLst>
              <a:ext uri="{FF2B5EF4-FFF2-40B4-BE49-F238E27FC236}">
                <a16:creationId xmlns:a16="http://schemas.microsoft.com/office/drawing/2014/main" id="{9BC6706E-5F60-B8EE-0796-52867CD0F79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08500" y="1549400"/>
            <a:ext cx="457200" cy="457200"/>
          </a:xfrm>
          <a:prstGeom prst="rect">
            <a:avLst/>
          </a:prstGeom>
        </p:spPr>
      </p:pic>
      <p:sp>
        <p:nvSpPr>
          <p:cNvPr id="18" name="AutoShape 18">
            <a:extLst>
              <a:ext uri="{FF2B5EF4-FFF2-40B4-BE49-F238E27FC236}">
                <a16:creationId xmlns:a16="http://schemas.microsoft.com/office/drawing/2014/main" id="{DAA69D08-3C60-386C-001F-77C2F632828D}"/>
              </a:ext>
            </a:extLst>
          </p:cNvPr>
          <p:cNvSpPr/>
          <p:nvPr/>
        </p:nvSpPr>
        <p:spPr>
          <a:xfrm>
            <a:off x="5080000" y="15240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Noto Sans SC"/>
                <a:sym typeface="Noto Sans SC"/>
              </a:rPr>
              <a:t>组合换手率</a:t>
            </a:r>
            <a:endParaRPr lang="en-US" sz="11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9" name="AutoShape 19">
            <a:extLst>
              <a:ext uri="{FF2B5EF4-FFF2-40B4-BE49-F238E27FC236}">
                <a16:creationId xmlns:a16="http://schemas.microsoft.com/office/drawing/2014/main" id="{2DF011D4-CD44-5F8F-B8CC-652132670EE0}"/>
              </a:ext>
            </a:extLst>
          </p:cNvPr>
          <p:cNvSpPr/>
          <p:nvPr/>
        </p:nvSpPr>
        <p:spPr>
          <a:xfrm>
            <a:off x="4318000" y="2286000"/>
            <a:ext cx="3556000" cy="2921000"/>
          </a:xfrm>
          <a:prstGeom prst="roundRect">
            <a:avLst>
              <a:gd name="adj" fmla="val 521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0" name="AutoShape 20">
            <a:extLst>
              <a:ext uri="{FF2B5EF4-FFF2-40B4-BE49-F238E27FC236}">
                <a16:creationId xmlns:a16="http://schemas.microsoft.com/office/drawing/2014/main" id="{4993DB11-666B-5EF9-539A-3209FA1837E8}"/>
              </a:ext>
            </a:extLst>
          </p:cNvPr>
          <p:cNvSpPr/>
          <p:nvPr/>
        </p:nvSpPr>
        <p:spPr>
          <a:xfrm>
            <a:off x="4508500" y="2476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21" name="Connector 21">
            <a:extLst>
              <a:ext uri="{FF2B5EF4-FFF2-40B4-BE49-F238E27FC236}">
                <a16:creationId xmlns:a16="http://schemas.microsoft.com/office/drawing/2014/main" id="{9263B6B0-BF2D-9816-BC1C-0B29EEBE36AC}"/>
              </a:ext>
            </a:extLst>
          </p:cNvPr>
          <p:cNvCxnSpPr/>
          <p:nvPr/>
        </p:nvCxnSpPr>
        <p:spPr>
          <a:xfrm rot="21586250">
            <a:off x="4508513" y="2914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AutoShape 22">
            <a:extLst>
              <a:ext uri="{FF2B5EF4-FFF2-40B4-BE49-F238E27FC236}">
                <a16:creationId xmlns:a16="http://schemas.microsoft.com/office/drawing/2014/main" id="{1D28B2E5-8862-1975-6406-D39C9245E9A4}"/>
              </a:ext>
            </a:extLst>
          </p:cNvPr>
          <p:cNvSpPr/>
          <p:nvPr/>
        </p:nvSpPr>
        <p:spPr>
          <a:xfrm>
            <a:off x="4508500" y="3111500"/>
            <a:ext cx="3175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33333"/>
              </a:lnSpc>
              <a:defRPr/>
            </a:pPr>
            <a:endParaRPr lang="en-US" sz="1200" b="0" i="0" u="none" strike="noStrike" dirty="0">
              <a:solidFill>
                <a:srgbClr val="374151"/>
              </a:solidFill>
              <a:latin typeface="黑体" panose="02010609060101010101" pitchFamily="49" charset="-122"/>
              <a:ea typeface="黑体" panose="02010609060101010101" pitchFamily="49" charset="-122"/>
              <a:cs typeface="Noto Sans SC"/>
              <a:sym typeface="Noto Sans SC"/>
            </a:endParaRPr>
          </a:p>
        </p:txBody>
      </p:sp>
      <p:sp>
        <p:nvSpPr>
          <p:cNvPr id="23" name="AutoShape 23">
            <a:extLst>
              <a:ext uri="{FF2B5EF4-FFF2-40B4-BE49-F238E27FC236}">
                <a16:creationId xmlns:a16="http://schemas.microsoft.com/office/drawing/2014/main" id="{F487843E-DE20-D954-6345-29366EFFDF41}"/>
              </a:ext>
            </a:extLst>
          </p:cNvPr>
          <p:cNvSpPr/>
          <p:nvPr/>
        </p:nvSpPr>
        <p:spPr>
          <a:xfrm>
            <a:off x="8255000" y="1397000"/>
            <a:ext cx="3556000" cy="3937000"/>
          </a:xfrm>
          <a:prstGeom prst="roundRect">
            <a:avLst>
              <a:gd name="adj" fmla="val 4285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4" name="AutoShape 24">
            <a:extLst>
              <a:ext uri="{FF2B5EF4-FFF2-40B4-BE49-F238E27FC236}">
                <a16:creationId xmlns:a16="http://schemas.microsoft.com/office/drawing/2014/main" id="{F09907B3-DB7C-281D-7F2D-2087888ADE46}"/>
              </a:ext>
            </a:extLst>
          </p:cNvPr>
          <p:cNvSpPr/>
          <p:nvPr/>
        </p:nvSpPr>
        <p:spPr>
          <a:xfrm>
            <a:off x="8255000" y="1397000"/>
            <a:ext cx="3556000" cy="762000"/>
          </a:xfrm>
          <a:prstGeom prst="roundRect">
            <a:avLst>
              <a:gd name="adj" fmla="val 2000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5" name="Picture 25">
            <a:extLst>
              <a:ext uri="{FF2B5EF4-FFF2-40B4-BE49-F238E27FC236}">
                <a16:creationId xmlns:a16="http://schemas.microsoft.com/office/drawing/2014/main" id="{186A82AC-0972-C738-600C-322FCCFCB50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45500" y="1549400"/>
            <a:ext cx="457200" cy="457200"/>
          </a:xfrm>
          <a:prstGeom prst="rect">
            <a:avLst/>
          </a:prstGeom>
        </p:spPr>
      </p:pic>
      <p:sp>
        <p:nvSpPr>
          <p:cNvPr id="26" name="AutoShape 26">
            <a:extLst>
              <a:ext uri="{FF2B5EF4-FFF2-40B4-BE49-F238E27FC236}">
                <a16:creationId xmlns:a16="http://schemas.microsoft.com/office/drawing/2014/main" id="{F99C1233-ED42-1BE7-B88D-24D42594A89A}"/>
              </a:ext>
            </a:extLst>
          </p:cNvPr>
          <p:cNvSpPr/>
          <p:nvPr/>
        </p:nvSpPr>
        <p:spPr>
          <a:xfrm>
            <a:off x="9017000" y="15240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Noto Sans SC"/>
                <a:sym typeface="Noto Sans SC"/>
              </a:rPr>
              <a:t>盈利动量交易</a:t>
            </a:r>
            <a:endParaRPr lang="en-US" sz="11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7" name="AutoShape 27">
            <a:extLst>
              <a:ext uri="{FF2B5EF4-FFF2-40B4-BE49-F238E27FC236}">
                <a16:creationId xmlns:a16="http://schemas.microsoft.com/office/drawing/2014/main" id="{19EEFFA5-93D2-C23C-EBDC-2F243BAD7EE6}"/>
              </a:ext>
            </a:extLst>
          </p:cNvPr>
          <p:cNvSpPr/>
          <p:nvPr/>
        </p:nvSpPr>
        <p:spPr>
          <a:xfrm>
            <a:off x="8255000" y="2286000"/>
            <a:ext cx="3556000" cy="2921000"/>
          </a:xfrm>
          <a:prstGeom prst="roundRect">
            <a:avLst>
              <a:gd name="adj" fmla="val 521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8" name="AutoShape 28">
            <a:extLst>
              <a:ext uri="{FF2B5EF4-FFF2-40B4-BE49-F238E27FC236}">
                <a16:creationId xmlns:a16="http://schemas.microsoft.com/office/drawing/2014/main" id="{82533B72-B142-B5CB-0567-DA3C3BE4F35F}"/>
              </a:ext>
            </a:extLst>
          </p:cNvPr>
          <p:cNvSpPr/>
          <p:nvPr/>
        </p:nvSpPr>
        <p:spPr>
          <a:xfrm>
            <a:off x="8445500" y="2476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29" name="Connector 29">
            <a:extLst>
              <a:ext uri="{FF2B5EF4-FFF2-40B4-BE49-F238E27FC236}">
                <a16:creationId xmlns:a16="http://schemas.microsoft.com/office/drawing/2014/main" id="{DAFA28FE-1923-688B-5595-44581B044FB5}"/>
              </a:ext>
            </a:extLst>
          </p:cNvPr>
          <p:cNvCxnSpPr/>
          <p:nvPr/>
        </p:nvCxnSpPr>
        <p:spPr>
          <a:xfrm rot="21586250">
            <a:off x="8445513" y="2914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B9BC970-1FF3-B8F1-735C-88E188F95427}"/>
              </a:ext>
            </a:extLst>
          </p:cNvPr>
          <p:cNvSpPr txBox="1"/>
          <p:nvPr/>
        </p:nvSpPr>
        <p:spPr>
          <a:xfrm>
            <a:off x="496047" y="3305719"/>
            <a:ext cx="332590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• </a:t>
            </a:r>
            <a:r>
              <a:rPr lang="zh-CN" altLang="en-US" dirty="0"/>
              <a:t>平均持股比例 </a:t>
            </a:r>
            <a:r>
              <a:rPr lang="en-US" altLang="zh-CN" dirty="0"/>
              <a:t>(APH)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• </a:t>
            </a:r>
            <a:r>
              <a:rPr lang="zh-CN" altLang="en-US" dirty="0"/>
              <a:t>大额持仓占比 </a:t>
            </a:r>
            <a:r>
              <a:rPr lang="en-US" altLang="zh-CN" dirty="0"/>
              <a:t>(LBPH)</a:t>
            </a:r>
          </a:p>
          <a:p>
            <a:endParaRPr lang="en-US" altLang="zh-CN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8FCAE56-4964-EE4A-8D90-7F60DBC3E3A9}"/>
              </a:ext>
            </a:extLst>
          </p:cNvPr>
          <p:cNvSpPr txBox="1"/>
          <p:nvPr/>
        </p:nvSpPr>
        <p:spPr>
          <a:xfrm>
            <a:off x="4363198" y="3305719"/>
            <a:ext cx="2837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• </a:t>
            </a:r>
            <a:r>
              <a:rPr lang="zh-CN" altLang="en-US" dirty="0"/>
              <a:t>组合换手率 </a:t>
            </a:r>
            <a:r>
              <a:rPr lang="en-US" altLang="zh-CN" dirty="0"/>
              <a:t>(Turnover)</a:t>
            </a: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F661DE60-500F-4C58-07AD-50B915262B5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63198" y="3612985"/>
            <a:ext cx="3258005" cy="1181265"/>
          </a:xfrm>
          <a:prstGeom prst="rect">
            <a:avLst/>
          </a:prstGeom>
        </p:spPr>
      </p:pic>
      <p:pic>
        <p:nvPicPr>
          <p:cNvPr id="47" name="图片 46">
            <a:extLst>
              <a:ext uri="{FF2B5EF4-FFF2-40B4-BE49-F238E27FC236}">
                <a16:creationId xmlns:a16="http://schemas.microsoft.com/office/drawing/2014/main" id="{83F609A7-44E5-335C-E6B5-018B8C6DCD4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4385" y="2506448"/>
            <a:ext cx="1554615" cy="377985"/>
          </a:xfrm>
          <a:prstGeom prst="rect">
            <a:avLst/>
          </a:prstGeom>
        </p:spPr>
      </p:pic>
      <p:pic>
        <p:nvPicPr>
          <p:cNvPr id="51" name="图片 50">
            <a:extLst>
              <a:ext uri="{FF2B5EF4-FFF2-40B4-BE49-F238E27FC236}">
                <a16:creationId xmlns:a16="http://schemas.microsoft.com/office/drawing/2014/main" id="{784BD07C-016B-41A9-2213-60F08704B8B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13842" y="2468130"/>
            <a:ext cx="1554615" cy="377985"/>
          </a:xfrm>
          <a:prstGeom prst="rect">
            <a:avLst/>
          </a:prstGeom>
        </p:spPr>
      </p:pic>
      <p:pic>
        <p:nvPicPr>
          <p:cNvPr id="55" name="图片 54">
            <a:extLst>
              <a:ext uri="{FF2B5EF4-FFF2-40B4-BE49-F238E27FC236}">
                <a16:creationId xmlns:a16="http://schemas.microsoft.com/office/drawing/2014/main" id="{6B0A053A-C8CB-887E-49AA-B4C74A115C5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78385" y="2460112"/>
            <a:ext cx="1554615" cy="377985"/>
          </a:xfrm>
          <a:prstGeom prst="rect">
            <a:avLst/>
          </a:prstGeom>
        </p:spPr>
      </p:pic>
      <p:pic>
        <p:nvPicPr>
          <p:cNvPr id="57" name="图片 56">
            <a:extLst>
              <a:ext uri="{FF2B5EF4-FFF2-40B4-BE49-F238E27FC236}">
                <a16:creationId xmlns:a16="http://schemas.microsoft.com/office/drawing/2014/main" id="{4197B384-C94E-0BEE-C75F-6709FA1D548F}"/>
              </a:ext>
            </a:extLst>
          </p:cNvPr>
          <p:cNvPicPr>
            <a:picLocks/>
          </p:cNvPicPr>
          <p:nvPr/>
        </p:nvPicPr>
        <p:blipFill>
          <a:blip r:embed="rId17"/>
          <a:srcRect l="18600"/>
          <a:stretch>
            <a:fillRect/>
          </a:stretch>
        </p:blipFill>
        <p:spPr>
          <a:xfrm>
            <a:off x="8360239" y="3479800"/>
            <a:ext cx="3500926" cy="849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32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4-16:27:00-d2skql61bb2p4onbqh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1514475"/>
            <a:ext cx="4189095" cy="377253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384165" y="3196590"/>
            <a:ext cx="5415915" cy="119888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Text 1"/>
          <p:cNvSpPr/>
          <p:nvPr/>
        </p:nvSpPr>
        <p:spPr>
          <a:xfrm>
            <a:off x="5384165" y="3196590"/>
            <a:ext cx="5415915" cy="1198880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t"/>
          <a:lstStyle/>
          <a:p>
            <a:pPr algn="just">
              <a:lnSpc>
                <a:spcPct val="100000"/>
              </a:lnSpc>
            </a:pPr>
            <a:r>
              <a:rPr lang="zh-CN" altLang="en-US" sz="3600" b="1" dirty="0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基金分类结果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Text 2"/>
          <p:cNvSpPr/>
          <p:nvPr/>
        </p:nvSpPr>
        <p:spPr>
          <a:xfrm>
            <a:off x="5384165" y="1945640"/>
            <a:ext cx="3390265" cy="11963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en-US" sz="7200" dirty="0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02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70" y="-3175"/>
            <a:ext cx="12224385" cy="3230469"/>
          </a:xfrm>
          <a:prstGeom prst="rect">
            <a:avLst/>
          </a:prstGeom>
          <a:solidFill>
            <a:srgbClr val="232323"/>
          </a:solidFill>
          <a:ln/>
        </p:spPr>
        <p:txBody>
          <a:bodyPr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3" name="Image 0" descr="https://kimi-img.moonshot.cn/pub/slides/slides_tmpl/image/25-09-04-16:27:03-d2skqlu1bb2p4onbqhj0.png"/>
          <p:cNvPicPr>
            <a:picLocks noChangeAspect="1"/>
          </p:cNvPicPr>
          <p:nvPr/>
        </p:nvPicPr>
        <p:blipFill>
          <a:blip r:embed="rId3"/>
          <a:srcRect t="5" b="5"/>
          <a:stretch/>
        </p:blipFill>
        <p:spPr>
          <a:xfrm>
            <a:off x="608965" y="1366655"/>
            <a:ext cx="3243243" cy="2160000"/>
          </a:xfrm>
          <a:prstGeom prst="rect">
            <a:avLst/>
          </a:prstGeom>
        </p:spPr>
      </p:pic>
      <p:pic>
        <p:nvPicPr>
          <p:cNvPr id="4" name="Image 1" descr="https://kimi-img.moonshot.cn/pub/slides/slides_tmpl/image/25-09-04-16:27:03-d2skqlu1bb2p4onbqhjg.png"/>
          <p:cNvPicPr>
            <a:picLocks noChangeAspect="1"/>
          </p:cNvPicPr>
          <p:nvPr/>
        </p:nvPicPr>
        <p:blipFill>
          <a:blip r:embed="rId4"/>
          <a:srcRect l="8" r="8"/>
          <a:stretch/>
        </p:blipFill>
        <p:spPr>
          <a:xfrm>
            <a:off x="8332133" y="1366655"/>
            <a:ext cx="3242945" cy="2160000"/>
          </a:xfrm>
          <a:prstGeom prst="rect">
            <a:avLst/>
          </a:prstGeom>
        </p:spPr>
      </p:pic>
      <p:pic>
        <p:nvPicPr>
          <p:cNvPr id="5" name="Image 2" descr="https://kimi-img.moonshot.cn/pub/slides/slides_tmpl/image/25-09-04-16:27:03-d2skqlu1bb2p4onbqhk0.png"/>
          <p:cNvPicPr>
            <a:picLocks noChangeAspect="1"/>
          </p:cNvPicPr>
          <p:nvPr/>
        </p:nvPicPr>
        <p:blipFill>
          <a:blip r:embed="rId5"/>
          <a:srcRect l="8" r="8"/>
          <a:stretch/>
        </p:blipFill>
        <p:spPr>
          <a:xfrm>
            <a:off x="4470698" y="1366655"/>
            <a:ext cx="3242945" cy="21600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988695" y="367665"/>
            <a:ext cx="6344285" cy="58477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Bushee基金三维分类框架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8" name="Image 3" descr="https://kimi-img.moonshot.cn/pub/slides/slides_tmpl/image/25-09-04-16:27:03-d2skqlu1bb2p4onbqhig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29577" y="434657"/>
            <a:ext cx="533400" cy="368300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582930" y="3932555"/>
            <a:ext cx="3408680" cy="40011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Transient型</a:t>
            </a:r>
            <a:endParaRPr 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" name="Text 4"/>
          <p:cNvSpPr/>
          <p:nvPr/>
        </p:nvSpPr>
        <p:spPr>
          <a:xfrm>
            <a:off x="627380" y="4619625"/>
            <a:ext cx="3355975" cy="87055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600" b="1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高换手+高分散</a:t>
            </a:r>
            <a:r>
              <a:rPr lang="en-US" sz="14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，短期交易导向，追求市场时机收益，持股轮换频繁，流动性需求高。</a:t>
            </a:r>
            <a:endParaRPr 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" name="Text 5"/>
          <p:cNvSpPr/>
          <p:nvPr/>
        </p:nvSpPr>
        <p:spPr>
          <a:xfrm>
            <a:off x="4416425" y="3932555"/>
            <a:ext cx="3408680" cy="40011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Quasi-index型</a:t>
            </a:r>
            <a:endParaRPr 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" name="Text 6"/>
          <p:cNvSpPr/>
          <p:nvPr/>
        </p:nvSpPr>
        <p:spPr>
          <a:xfrm>
            <a:off x="4460875" y="4619625"/>
            <a:ext cx="3355975" cy="87055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600" b="1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低换手+高分散</a:t>
            </a:r>
            <a:r>
              <a:rPr lang="en-US" sz="14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，模拟指数化投资，广泛覆盖标的，追求市场平均收益，管理费用较低。</a:t>
            </a:r>
            <a:endParaRPr 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" name="Text 7"/>
          <p:cNvSpPr/>
          <p:nvPr/>
        </p:nvSpPr>
        <p:spPr>
          <a:xfrm>
            <a:off x="8249920" y="3932555"/>
            <a:ext cx="3408680" cy="40011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Dedicated型</a:t>
            </a:r>
            <a:endParaRPr 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Text 8"/>
          <p:cNvSpPr/>
          <p:nvPr/>
        </p:nvSpPr>
        <p:spPr>
          <a:xfrm>
            <a:off x="8294370" y="4619625"/>
            <a:ext cx="3355975" cy="87055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600" b="1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低换手+低分散</a:t>
            </a:r>
            <a:r>
              <a:rPr lang="en-US" sz="1400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，集中持股长期持有，深度研究驱动，对特定股票影响力显著，价值投资取向。</a:t>
            </a:r>
            <a:endParaRPr 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45A0C-07EA-035A-9470-3F3F02CFF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C665067-D29A-A9E9-9259-AFF990573E32}"/>
              </a:ext>
            </a:extLst>
          </p:cNvPr>
          <p:cNvSpPr/>
          <p:nvPr/>
        </p:nvSpPr>
        <p:spPr>
          <a:xfrm>
            <a:off x="962342" y="1604682"/>
            <a:ext cx="4876800" cy="76200"/>
          </a:xfrm>
          <a:prstGeom prst="parallelogram">
            <a:avLst>
              <a:gd name="adj" fmla="val 25000"/>
            </a:avLst>
          </a:prstGeom>
          <a:solidFill>
            <a:srgbClr val="111111"/>
          </a:solidFill>
          <a:ln/>
        </p:spPr>
        <p:txBody>
          <a:bodyPr/>
          <a:lstStyle/>
          <a:p>
            <a:endParaRPr lang="zh-CN" altLang="en-US" b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E63851CA-BF98-182F-C343-7602FF50DABF}"/>
              </a:ext>
            </a:extLst>
          </p:cNvPr>
          <p:cNvSpPr/>
          <p:nvPr/>
        </p:nvSpPr>
        <p:spPr>
          <a:xfrm>
            <a:off x="988060" y="704215"/>
            <a:ext cx="6344285" cy="58477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en-US" sz="3200" b="1" dirty="0">
                <a:solidFill>
                  <a:srgbClr val="111111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基金分类结果分布表</a:t>
            </a:r>
            <a:endParaRPr 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" name="Image 1" descr="https://kimi-img.moonshot.cn/pub/slides/slides_tmpl/image/25-09-04-16:27:00-d2skql61bb2p4onbqhag.png">
            <a:extLst>
              <a:ext uri="{FF2B5EF4-FFF2-40B4-BE49-F238E27FC236}">
                <a16:creationId xmlns:a16="http://schemas.microsoft.com/office/drawing/2014/main" id="{C015AADF-D5B3-6BC4-2346-607F297E9D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8942" y="770420"/>
            <a:ext cx="533400" cy="368300"/>
          </a:xfrm>
          <a:prstGeom prst="rect">
            <a:avLst/>
          </a:prstGeom>
        </p:spPr>
      </p:pic>
      <p:sp>
        <p:nvSpPr>
          <p:cNvPr id="7" name="Text 3">
            <a:extLst>
              <a:ext uri="{FF2B5EF4-FFF2-40B4-BE49-F238E27FC236}">
                <a16:creationId xmlns:a16="http://schemas.microsoft.com/office/drawing/2014/main" id="{9F1137A9-E6CD-6E2F-C26D-5449DD54CE69}"/>
              </a:ext>
            </a:extLst>
          </p:cNvPr>
          <p:cNvSpPr/>
          <p:nvPr/>
        </p:nvSpPr>
        <p:spPr>
          <a:xfrm>
            <a:off x="1076960" y="2554605"/>
            <a:ext cx="5307330" cy="40395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endParaRPr 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8845015-A491-63CB-6E5A-2516B94295DF}"/>
              </a:ext>
            </a:extLst>
          </p:cNvPr>
          <p:cNvSpPr txBox="1"/>
          <p:nvPr/>
        </p:nvSpPr>
        <p:spPr>
          <a:xfrm>
            <a:off x="589624" y="5681322"/>
            <a:ext cx="113245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调整数据范围前后，分类结构保持高度稳定。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Transient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与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Quasi-index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型基金合计占比超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90%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，主导市场；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Dedicated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型占比较低。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该结果与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Bushee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经典文献结论一致，验证了分类方法的有效性。</a:t>
            </a:r>
          </a:p>
        </p:txBody>
      </p:sp>
      <p:graphicFrame>
        <p:nvGraphicFramePr>
          <p:cNvPr id="6" name="图表 5">
            <a:extLst>
              <a:ext uri="{FF2B5EF4-FFF2-40B4-BE49-F238E27FC236}">
                <a16:creationId xmlns:a16="http://schemas.microsoft.com/office/drawing/2014/main" id="{0F087C12-75BB-A539-2761-6FB55871C9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5846802"/>
              </p:ext>
            </p:extLst>
          </p:nvPr>
        </p:nvGraphicFramePr>
        <p:xfrm>
          <a:off x="6714565" y="2052730"/>
          <a:ext cx="5199614" cy="32567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图表 7">
            <a:extLst>
              <a:ext uri="{FF2B5EF4-FFF2-40B4-BE49-F238E27FC236}">
                <a16:creationId xmlns:a16="http://schemas.microsoft.com/office/drawing/2014/main" id="{41FE154E-1B3E-359D-AE4F-8D5594AA1E3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45122502"/>
              </p:ext>
            </p:extLst>
          </p:nvPr>
        </p:nvGraphicFramePr>
        <p:xfrm>
          <a:off x="589624" y="1996574"/>
          <a:ext cx="5506376" cy="3312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6884429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32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4-16:27:00-d2skql61bb2p4onbqh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1514475"/>
            <a:ext cx="4189095" cy="377253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384165" y="3196590"/>
            <a:ext cx="5415915" cy="119888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Text 1"/>
          <p:cNvSpPr/>
          <p:nvPr/>
        </p:nvSpPr>
        <p:spPr>
          <a:xfrm>
            <a:off x="5384165" y="3196590"/>
            <a:ext cx="5415915" cy="1198880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t"/>
          <a:lstStyle/>
          <a:p>
            <a:pPr algn="just">
              <a:lnSpc>
                <a:spcPct val="100000"/>
              </a:lnSpc>
            </a:pPr>
            <a:r>
              <a:rPr lang="zh-CN" altLang="en-US" sz="3600" b="1" dirty="0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股票被持股情况</a:t>
            </a:r>
          </a:p>
        </p:txBody>
      </p:sp>
      <p:sp>
        <p:nvSpPr>
          <p:cNvPr id="5" name="Text 2"/>
          <p:cNvSpPr/>
          <p:nvPr/>
        </p:nvSpPr>
        <p:spPr>
          <a:xfrm>
            <a:off x="5384165" y="1945640"/>
            <a:ext cx="3390265" cy="11963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en-US" sz="7200" dirty="0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03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30CDB-B830-E6A5-19F8-DA2199E41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F2A00C6-C118-ADB4-11FA-E49CEAF5C348}"/>
              </a:ext>
            </a:extLst>
          </p:cNvPr>
          <p:cNvSpPr/>
          <p:nvPr/>
        </p:nvSpPr>
        <p:spPr>
          <a:xfrm>
            <a:off x="988060" y="704215"/>
            <a:ext cx="10534650" cy="58477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3200" b="1" dirty="0">
                <a:solidFill>
                  <a:srgbClr val="111111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机构投资者投资结构的时间趋势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" name="Image 0" descr="https://kimi-img.moonshot.cn/pub/slides/slides_tmpl/image/25-09-04-16:27:00-d2skql61bb2p4onbqhag.png">
            <a:extLst>
              <a:ext uri="{FF2B5EF4-FFF2-40B4-BE49-F238E27FC236}">
                <a16:creationId xmlns:a16="http://schemas.microsoft.com/office/drawing/2014/main" id="{E82CA5F2-E26E-0F36-8B12-F94DD2DACF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8942" y="770420"/>
            <a:ext cx="533400" cy="368300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0700DCFC-A8CA-B9FF-E624-FB8E7DB648A4}"/>
              </a:ext>
            </a:extLst>
          </p:cNvPr>
          <p:cNvSpPr txBox="1"/>
          <p:nvPr/>
        </p:nvSpPr>
        <p:spPr>
          <a:xfrm>
            <a:off x="1983880" y="5025635"/>
            <a:ext cx="82242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根据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2021-2025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的数据来看，长期视角下，可以得出以下结论：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1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、准指数型：远高于其他两类，且呈现下滑趋势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2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、交易型和专注型：投资占比较为稳定。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DAF68B2-96F7-E94C-F1C0-1333A1E5E5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7341" y="1476804"/>
            <a:ext cx="6777318" cy="3361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296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BA333-3B82-2338-2BF0-06D4492AF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2124F78-39D8-A3E2-734C-3CB5DDDA16BD}"/>
              </a:ext>
            </a:extLst>
          </p:cNvPr>
          <p:cNvSpPr/>
          <p:nvPr/>
        </p:nvSpPr>
        <p:spPr>
          <a:xfrm>
            <a:off x="988060" y="704215"/>
            <a:ext cx="10534650" cy="58477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3200" b="1" dirty="0">
                <a:solidFill>
                  <a:srgbClr val="111111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长期平均下，股票被基金持仓比例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" name="Image 0" descr="https://kimi-img.moonshot.cn/pub/slides/slides_tmpl/image/25-09-04-16:27:00-d2skql61bb2p4onbqhag.png">
            <a:extLst>
              <a:ext uri="{FF2B5EF4-FFF2-40B4-BE49-F238E27FC236}">
                <a16:creationId xmlns:a16="http://schemas.microsoft.com/office/drawing/2014/main" id="{1E26C18E-E4EE-8D32-586B-E844F80025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8942" y="770420"/>
            <a:ext cx="533400" cy="36830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FBB0E950-3C18-F639-2291-387DA79910B8}"/>
              </a:ext>
            </a:extLst>
          </p:cNvPr>
          <p:cNvSpPr txBox="1"/>
          <p:nvPr/>
        </p:nvSpPr>
        <p:spPr>
          <a:xfrm>
            <a:off x="428943" y="1939355"/>
            <a:ext cx="38292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总的来看，平均每只股票被三类基金的持有结构如下表所示：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ACC65F1-09AA-24F6-03CD-1D2A127A9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858174"/>
              </p:ext>
            </p:extLst>
          </p:nvPr>
        </p:nvGraphicFramePr>
        <p:xfrm>
          <a:off x="4258235" y="1518683"/>
          <a:ext cx="6875929" cy="14235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4295">
                  <a:extLst>
                    <a:ext uri="{9D8B030D-6E8A-4147-A177-3AD203B41FA5}">
                      <a16:colId xmlns:a16="http://schemas.microsoft.com/office/drawing/2014/main" val="4147369901"/>
                    </a:ext>
                  </a:extLst>
                </a:gridCol>
                <a:gridCol w="1535358">
                  <a:extLst>
                    <a:ext uri="{9D8B030D-6E8A-4147-A177-3AD203B41FA5}">
                      <a16:colId xmlns:a16="http://schemas.microsoft.com/office/drawing/2014/main" val="4064289998"/>
                    </a:ext>
                  </a:extLst>
                </a:gridCol>
                <a:gridCol w="1823543">
                  <a:extLst>
                    <a:ext uri="{9D8B030D-6E8A-4147-A177-3AD203B41FA5}">
                      <a16:colId xmlns:a16="http://schemas.microsoft.com/office/drawing/2014/main" val="4172579252"/>
                    </a:ext>
                  </a:extLst>
                </a:gridCol>
                <a:gridCol w="1723165">
                  <a:extLst>
                    <a:ext uri="{9D8B030D-6E8A-4147-A177-3AD203B41FA5}">
                      <a16:colId xmlns:a16="http://schemas.microsoft.com/office/drawing/2014/main" val="4027170687"/>
                    </a:ext>
                  </a:extLst>
                </a:gridCol>
                <a:gridCol w="769568">
                  <a:extLst>
                    <a:ext uri="{9D8B030D-6E8A-4147-A177-3AD203B41FA5}">
                      <a16:colId xmlns:a16="http://schemas.microsoft.com/office/drawing/2014/main" val="2475131576"/>
                    </a:ext>
                  </a:extLst>
                </a:gridCol>
              </a:tblGrid>
              <a:tr h="47451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Year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Dedicated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Quasi-Index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Transient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Total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4962356"/>
                  </a:ext>
                </a:extLst>
              </a:tr>
              <a:tr h="4745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zh-CN" sz="1600" u="none" strike="noStrike">
                          <a:effectLst/>
                        </a:rPr>
                        <a:t>2023-2025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zh-CN" sz="1600" u="none" strike="noStrike" dirty="0">
                          <a:effectLst/>
                        </a:rPr>
                        <a:t>0.0807%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zh-CN" sz="1600" u="none" strike="noStrike">
                          <a:effectLst/>
                        </a:rPr>
                        <a:t>1.2361%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zh-CN" sz="1600" u="none" strike="noStrike">
                          <a:effectLst/>
                        </a:rPr>
                        <a:t>0.3882%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zh-CN" sz="1600" u="none" strike="noStrike">
                          <a:effectLst/>
                        </a:rPr>
                        <a:t>1.705%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05413454"/>
                  </a:ext>
                </a:extLst>
              </a:tr>
              <a:tr h="4745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zh-CN" sz="1600" u="none" strike="noStrike">
                          <a:effectLst/>
                        </a:rPr>
                        <a:t>2021-2025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zh-CN" sz="1600" u="none" strike="noStrike" dirty="0">
                          <a:effectLst/>
                        </a:rPr>
                        <a:t>0.0757%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zh-CN" sz="1600" u="none" strike="noStrike">
                          <a:effectLst/>
                        </a:rPr>
                        <a:t>0.9939%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zh-CN" sz="1600" u="none" strike="noStrike">
                          <a:effectLst/>
                        </a:rPr>
                        <a:t>0.5590%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zh-CN" sz="1600" u="none" strike="noStrike" dirty="0">
                          <a:effectLst/>
                        </a:rPr>
                        <a:t>1.629%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2325110"/>
                  </a:ext>
                </a:extLst>
              </a:tr>
            </a:tbl>
          </a:graphicData>
        </a:graphic>
      </p:graphicFrame>
      <p:graphicFrame>
        <p:nvGraphicFramePr>
          <p:cNvPr id="6" name="图表 5">
            <a:extLst>
              <a:ext uri="{FF2B5EF4-FFF2-40B4-BE49-F238E27FC236}">
                <a16:creationId xmlns:a16="http://schemas.microsoft.com/office/drawing/2014/main" id="{0D07F7D4-D027-114C-0C8D-044DBAD3DD9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4342500"/>
              </p:ext>
            </p:extLst>
          </p:nvPr>
        </p:nvGraphicFramePr>
        <p:xfrm>
          <a:off x="6705450" y="3525315"/>
          <a:ext cx="46329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AutoShape 6">
            <a:extLst>
              <a:ext uri="{FF2B5EF4-FFF2-40B4-BE49-F238E27FC236}">
                <a16:creationId xmlns:a16="http://schemas.microsoft.com/office/drawing/2014/main" id="{7DE193C4-AB98-8D90-6075-96C26CAD8FE8}"/>
              </a:ext>
            </a:extLst>
          </p:cNvPr>
          <p:cNvSpPr/>
          <p:nvPr/>
        </p:nvSpPr>
        <p:spPr>
          <a:xfrm>
            <a:off x="428943" y="3742869"/>
            <a:ext cx="5951876" cy="2410916"/>
          </a:xfrm>
          <a:prstGeom prst="roundRect">
            <a:avLst>
              <a:gd name="adj" fmla="val 8333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7">
            <a:extLst>
              <a:ext uri="{FF2B5EF4-FFF2-40B4-BE49-F238E27FC236}">
                <a16:creationId xmlns:a16="http://schemas.microsoft.com/office/drawing/2014/main" id="{8F80D3B5-2EAB-C55A-3938-0DE28F26A1DB}"/>
              </a:ext>
            </a:extLst>
          </p:cNvPr>
          <p:cNvSpPr/>
          <p:nvPr/>
        </p:nvSpPr>
        <p:spPr>
          <a:xfrm>
            <a:off x="646694" y="4489520"/>
            <a:ext cx="5734125" cy="134509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127000" tIns="101600" rIns="127000" bIns="101600" rtlCol="0" anchor="ctr" anchorCtr="0"/>
          <a:lstStyle/>
          <a:p>
            <a:pPr>
              <a:lnSpc>
                <a:spcPct val="116666"/>
              </a:lnSpc>
            </a:pPr>
            <a:r>
              <a:rPr lang="zh-CN" altLang="en-US" sz="1300" dirty="0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数据表明：</a:t>
            </a:r>
            <a:r>
              <a:rPr lang="en-US" sz="1300" b="1" dirty="0">
                <a:solidFill>
                  <a:srgbClr val="AA744A"/>
                </a:solidFill>
                <a:latin typeface="Noto Sans SC"/>
                <a:ea typeface="Noto Sans SC"/>
                <a:sym typeface="Noto Sans SC"/>
              </a:rPr>
              <a:t>Quasi-index</a:t>
            </a:r>
            <a:r>
              <a:rPr lang="zh-CN" altLang="en-US" sz="1300" b="1" dirty="0">
                <a:solidFill>
                  <a:srgbClr val="AA744A"/>
                </a:solidFill>
                <a:latin typeface="Noto Sans SC"/>
                <a:ea typeface="Noto Sans SC"/>
                <a:sym typeface="Noto Sans SC"/>
              </a:rPr>
              <a:t>（准指数型）</a:t>
            </a:r>
            <a:r>
              <a:rPr lang="en-US" sz="1300" b="1" dirty="0">
                <a:solidFill>
                  <a:srgbClr val="AA744A"/>
                </a:solidFill>
                <a:latin typeface="Noto Sans SC"/>
                <a:ea typeface="Noto Sans SC"/>
                <a:sym typeface="Noto Sans SC"/>
              </a:rPr>
              <a:t> </a:t>
            </a:r>
            <a:r>
              <a:rPr lang="zh-CN" altLang="en-US" sz="1300" b="0" i="0" u="none" strike="noStrike" dirty="0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基金的平均持股占比最高，对多数股票均保持一定比例的配置。</a:t>
            </a:r>
          </a:p>
          <a:p>
            <a:pPr indent="0" algn="l">
              <a:lnSpc>
                <a:spcPct val="116666"/>
              </a:lnSpc>
            </a:pPr>
            <a:r>
              <a:rPr lang="en-US" sz="1300" b="1" dirty="0">
                <a:solidFill>
                  <a:srgbClr val="AA744A"/>
                </a:solidFill>
                <a:latin typeface="Noto Sans SC"/>
                <a:ea typeface="Noto Sans SC"/>
                <a:sym typeface="Noto Sans SC"/>
              </a:rPr>
              <a:t>Transient</a:t>
            </a:r>
            <a:r>
              <a:rPr lang="zh-CN" altLang="en-US" sz="1300" b="1" dirty="0">
                <a:solidFill>
                  <a:srgbClr val="AA744A"/>
                </a:solidFill>
                <a:latin typeface="Noto Sans SC"/>
                <a:ea typeface="Noto Sans SC"/>
                <a:sym typeface="Noto Sans SC"/>
              </a:rPr>
              <a:t>（交易型）</a:t>
            </a:r>
            <a:r>
              <a:rPr lang="en-US" sz="1300" b="0" i="0" u="none" strike="noStrike" dirty="0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300" b="0" i="0" u="none" strike="noStrike" dirty="0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次之；而</a:t>
            </a:r>
            <a:r>
              <a:rPr lang="en-US" sz="1300" b="1" dirty="0">
                <a:solidFill>
                  <a:srgbClr val="AA744A"/>
                </a:solidFill>
                <a:latin typeface="Noto Sans SC"/>
                <a:ea typeface="Noto Sans SC"/>
                <a:sym typeface="Noto Sans SC"/>
              </a:rPr>
              <a:t>Dedicated</a:t>
            </a:r>
            <a:r>
              <a:rPr lang="zh-CN" altLang="en-US" sz="1300" b="1" dirty="0">
                <a:solidFill>
                  <a:srgbClr val="AA744A"/>
                </a:solidFill>
                <a:latin typeface="Noto Sans SC"/>
                <a:ea typeface="Noto Sans SC"/>
                <a:sym typeface="Noto Sans SC"/>
              </a:rPr>
              <a:t>（专注型）</a:t>
            </a:r>
            <a:r>
              <a:rPr lang="en-US" sz="1300" b="0" i="0" u="none" strike="noStrike" dirty="0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300" b="0" i="0" u="none" strike="noStrike" dirty="0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最低，呈现出明显的“高集中、低覆盖”特征。</a:t>
            </a:r>
          </a:p>
          <a:p>
            <a:pPr indent="0" algn="l">
              <a:lnSpc>
                <a:spcPct val="116666"/>
              </a:lnSpc>
            </a:pPr>
            <a:endParaRPr lang="zh-CN" altLang="en-US" sz="1300" b="0" i="0" u="none" strike="noStrike" dirty="0">
              <a:solidFill>
                <a:srgbClr val="505050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</a:pPr>
            <a:endParaRPr lang="en-US" sz="1300" b="0" i="0" u="none" strike="noStrike" dirty="0">
              <a:solidFill>
                <a:srgbClr val="505050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  <p:extLst>
      <p:ext uri="{BB962C8B-B14F-4D97-AF65-F5344CB8AC3E}">
        <p14:creationId xmlns:p14="http://schemas.microsoft.com/office/powerpoint/2010/main" val="1645016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3ABDE-20BF-122B-5BDD-7266AC09C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AA2CE85-112C-40E2-ED1C-4DA8A5664535}"/>
              </a:ext>
            </a:extLst>
          </p:cNvPr>
          <p:cNvSpPr/>
          <p:nvPr/>
        </p:nvSpPr>
        <p:spPr>
          <a:xfrm>
            <a:off x="988060" y="704215"/>
            <a:ext cx="10534650" cy="58477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3200" b="1" dirty="0">
                <a:solidFill>
                  <a:srgbClr val="111111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扩充样本期后</a:t>
            </a:r>
          </a:p>
        </p:txBody>
      </p:sp>
      <p:pic>
        <p:nvPicPr>
          <p:cNvPr id="5" name="Image 0" descr="https://kimi-img.moonshot.cn/pub/slides/slides_tmpl/image/25-09-04-16:27:00-d2skql61bb2p4onbqhag.png">
            <a:extLst>
              <a:ext uri="{FF2B5EF4-FFF2-40B4-BE49-F238E27FC236}">
                <a16:creationId xmlns:a16="http://schemas.microsoft.com/office/drawing/2014/main" id="{06FBD0B9-F9E8-A0B5-FD41-1CC0A8131E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8942" y="770420"/>
            <a:ext cx="533400" cy="368300"/>
          </a:xfrm>
          <a:prstGeom prst="rect">
            <a:avLst/>
          </a:prstGeom>
        </p:spPr>
      </p:pic>
      <p:sp>
        <p:nvSpPr>
          <p:cNvPr id="2" name="Text 1">
            <a:extLst>
              <a:ext uri="{FF2B5EF4-FFF2-40B4-BE49-F238E27FC236}">
                <a16:creationId xmlns:a16="http://schemas.microsoft.com/office/drawing/2014/main" id="{48A32D7D-C400-B3C7-1F11-50ECA0761AB1}"/>
              </a:ext>
            </a:extLst>
          </p:cNvPr>
          <p:cNvSpPr/>
          <p:nvPr/>
        </p:nvSpPr>
        <p:spPr>
          <a:xfrm>
            <a:off x="695642" y="3335703"/>
            <a:ext cx="3917315" cy="46166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b">
            <a:spAutoFit/>
          </a:bodyPr>
          <a:lstStyle/>
          <a:p>
            <a:pPr>
              <a:lnSpc>
                <a:spcPct val="100000"/>
              </a:lnSpc>
            </a:pPr>
            <a:r>
              <a: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被持股比例保持稳健性</a:t>
            </a:r>
            <a:endParaRPr 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1DDA742C-C0E5-482D-CC18-64BED00548AE}"/>
              </a:ext>
            </a:extLst>
          </p:cNvPr>
          <p:cNvSpPr/>
          <p:nvPr/>
        </p:nvSpPr>
        <p:spPr>
          <a:xfrm>
            <a:off x="695642" y="3839634"/>
            <a:ext cx="4945757" cy="7129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股票被三类不同基金的持股占比总的来看变动不大。</a:t>
            </a:r>
            <a:endParaRPr 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3ECE31C-A4D2-7ECF-AFC5-F147EB17052A}"/>
              </a:ext>
            </a:extLst>
          </p:cNvPr>
          <p:cNvSpPr/>
          <p:nvPr/>
        </p:nvSpPr>
        <p:spPr>
          <a:xfrm>
            <a:off x="695642" y="4776612"/>
            <a:ext cx="5508083" cy="40011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b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1" dirty="0"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分类结构稳定</a:t>
            </a:r>
            <a:endParaRPr 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12B8642-F956-56C0-ACF1-FE20554AD1F7}"/>
              </a:ext>
            </a:extLst>
          </p:cNvPr>
          <p:cNvSpPr/>
          <p:nvPr/>
        </p:nvSpPr>
        <p:spPr>
          <a:xfrm>
            <a:off x="695642" y="5255153"/>
            <a:ext cx="5313921" cy="34855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endParaRPr 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3FDFB4C5-67C2-5CE0-5CF7-69039FAB8E50}"/>
              </a:ext>
            </a:extLst>
          </p:cNvPr>
          <p:cNvSpPr/>
          <p:nvPr/>
        </p:nvSpPr>
        <p:spPr>
          <a:xfrm>
            <a:off x="6591820" y="3665031"/>
            <a:ext cx="5508083" cy="33855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b">
            <a:spAutoFit/>
          </a:bodyPr>
          <a:lstStyle/>
          <a:p>
            <a:pPr>
              <a:lnSpc>
                <a:spcPct val="100000"/>
              </a:lnSpc>
            </a:pPr>
            <a:endParaRPr 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41C4593-7C5B-D890-34A7-9A9D126F64B7}"/>
              </a:ext>
            </a:extLst>
          </p:cNvPr>
          <p:cNvSpPr txBox="1"/>
          <p:nvPr/>
        </p:nvSpPr>
        <p:spPr>
          <a:xfrm>
            <a:off x="695642" y="5382416"/>
            <a:ext cx="464371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基金类型占比基本不变，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Transient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与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Quasi-index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仍占主导，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Dedicated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维持低位，投资者的行为模式未发生显著转变。</a:t>
            </a:r>
          </a:p>
        </p:txBody>
      </p:sp>
      <p:graphicFrame>
        <p:nvGraphicFramePr>
          <p:cNvPr id="9" name="图表 8">
            <a:extLst>
              <a:ext uri="{FF2B5EF4-FFF2-40B4-BE49-F238E27FC236}">
                <a16:creationId xmlns:a16="http://schemas.microsoft.com/office/drawing/2014/main" id="{6138E9A8-4596-4E6F-BA44-88FE9C21715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812472"/>
              </p:ext>
            </p:extLst>
          </p:nvPr>
        </p:nvGraphicFramePr>
        <p:xfrm>
          <a:off x="6289781" y="3429000"/>
          <a:ext cx="46329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EF77C719-9711-00C3-4C3D-048CBE92AD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1287883"/>
              </p:ext>
            </p:extLst>
          </p:nvPr>
        </p:nvGraphicFramePr>
        <p:xfrm>
          <a:off x="2851816" y="1503101"/>
          <a:ext cx="6875929" cy="14235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4295">
                  <a:extLst>
                    <a:ext uri="{9D8B030D-6E8A-4147-A177-3AD203B41FA5}">
                      <a16:colId xmlns:a16="http://schemas.microsoft.com/office/drawing/2014/main" val="4147369901"/>
                    </a:ext>
                  </a:extLst>
                </a:gridCol>
                <a:gridCol w="1535358">
                  <a:extLst>
                    <a:ext uri="{9D8B030D-6E8A-4147-A177-3AD203B41FA5}">
                      <a16:colId xmlns:a16="http://schemas.microsoft.com/office/drawing/2014/main" val="4064289998"/>
                    </a:ext>
                  </a:extLst>
                </a:gridCol>
                <a:gridCol w="1823543">
                  <a:extLst>
                    <a:ext uri="{9D8B030D-6E8A-4147-A177-3AD203B41FA5}">
                      <a16:colId xmlns:a16="http://schemas.microsoft.com/office/drawing/2014/main" val="4172579252"/>
                    </a:ext>
                  </a:extLst>
                </a:gridCol>
                <a:gridCol w="1723165">
                  <a:extLst>
                    <a:ext uri="{9D8B030D-6E8A-4147-A177-3AD203B41FA5}">
                      <a16:colId xmlns:a16="http://schemas.microsoft.com/office/drawing/2014/main" val="4027170687"/>
                    </a:ext>
                  </a:extLst>
                </a:gridCol>
                <a:gridCol w="769568">
                  <a:extLst>
                    <a:ext uri="{9D8B030D-6E8A-4147-A177-3AD203B41FA5}">
                      <a16:colId xmlns:a16="http://schemas.microsoft.com/office/drawing/2014/main" val="2475131576"/>
                    </a:ext>
                  </a:extLst>
                </a:gridCol>
              </a:tblGrid>
              <a:tr h="47451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Year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Dedicated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Quasi-Index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Transient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Total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4962356"/>
                  </a:ext>
                </a:extLst>
              </a:tr>
              <a:tr h="4745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zh-CN" sz="1600" u="none" strike="noStrike">
                          <a:effectLst/>
                        </a:rPr>
                        <a:t>2023-2025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zh-CN" sz="1600" u="none" strike="noStrike" dirty="0">
                          <a:effectLst/>
                        </a:rPr>
                        <a:t>0.0807%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zh-CN" sz="1600" u="none" strike="noStrike">
                          <a:effectLst/>
                        </a:rPr>
                        <a:t>1.2361%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zh-CN" sz="1600" u="none" strike="noStrike">
                          <a:effectLst/>
                        </a:rPr>
                        <a:t>0.3882%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zh-CN" sz="1600" u="none" strike="noStrike">
                          <a:effectLst/>
                        </a:rPr>
                        <a:t>1.705%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05413454"/>
                  </a:ext>
                </a:extLst>
              </a:tr>
              <a:tr h="4745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zh-CN" sz="1600" u="none" strike="noStrike">
                          <a:effectLst/>
                        </a:rPr>
                        <a:t>2021-2025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zh-CN" sz="1600" u="none" strike="noStrike" dirty="0">
                          <a:effectLst/>
                        </a:rPr>
                        <a:t>0.0757%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zh-CN" sz="1600" u="none" strike="noStrike">
                          <a:effectLst/>
                        </a:rPr>
                        <a:t>0.9939%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zh-CN" sz="1600" u="none" strike="noStrike">
                          <a:effectLst/>
                        </a:rPr>
                        <a:t>0.5590%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zh-CN" sz="1600" u="none" strike="noStrike" dirty="0">
                          <a:effectLst/>
                        </a:rPr>
                        <a:t>1.629%</a:t>
                      </a:r>
                      <a:endParaRPr lang="en-US" altLang="zh-CN" sz="1600" b="0" i="0" u="none" strike="noStrike" dirty="0">
                        <a:solidFill>
                          <a:srgbClr val="00000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23251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13762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4678A-E346-073D-3756-46EBF5637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4654542-79BF-0009-FD6F-D0B7BD33E7E2}"/>
              </a:ext>
            </a:extLst>
          </p:cNvPr>
          <p:cNvSpPr/>
          <p:nvPr/>
        </p:nvSpPr>
        <p:spPr>
          <a:xfrm>
            <a:off x="988060" y="704215"/>
            <a:ext cx="10534650" cy="58477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3200" b="1" dirty="0">
                <a:solidFill>
                  <a:srgbClr val="111111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不同类型基金对不同类型股票的偏好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" name="Image 0" descr="https://kimi-img.moonshot.cn/pub/slides/slides_tmpl/image/25-09-04-16:27:00-d2skql61bb2p4onbqhag.png">
            <a:extLst>
              <a:ext uri="{FF2B5EF4-FFF2-40B4-BE49-F238E27FC236}">
                <a16:creationId xmlns:a16="http://schemas.microsoft.com/office/drawing/2014/main" id="{964F2CB7-37B1-8A05-E01A-086F7750BF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8942" y="770420"/>
            <a:ext cx="533400" cy="36830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8D2D6559-CD62-46B2-4E00-44C5A35ADF44}"/>
              </a:ext>
            </a:extLst>
          </p:cNvPr>
          <p:cNvSpPr txBox="1"/>
          <p:nvPr/>
        </p:nvSpPr>
        <p:spPr>
          <a:xfrm>
            <a:off x="2093258" y="5257615"/>
            <a:ext cx="800548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三类机构投资者均表现出对大盘股的明显偏好，但这种偏好程度存在差异：专注型（</a:t>
            </a:r>
            <a:r>
              <a:rPr lang="en-US" altLang="zh-CN" dirty="0"/>
              <a:t>Dedicated</a:t>
            </a:r>
            <a:r>
              <a:rPr lang="zh-CN" altLang="en-US" dirty="0"/>
              <a:t>）最强，其次是准指数型（</a:t>
            </a:r>
            <a:r>
              <a:rPr lang="en-US" altLang="zh-CN" dirty="0"/>
              <a:t>Quasi-index</a:t>
            </a:r>
            <a:r>
              <a:rPr lang="zh-CN" altLang="en-US" dirty="0"/>
              <a:t>），而交易型（</a:t>
            </a:r>
            <a:r>
              <a:rPr lang="en-US" altLang="zh-CN" dirty="0"/>
              <a:t>Transient</a:t>
            </a:r>
            <a:r>
              <a:rPr lang="zh-CN" altLang="en-US" dirty="0"/>
              <a:t>）相对更分散，更愿意配置小盘股。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6C44F81-75D1-6C09-5395-73A9354A60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12" y="1450799"/>
            <a:ext cx="11232776" cy="3686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871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4-16:27:02-d2skqlm1bb2p4onbqhhg.png"/>
          <p:cNvPicPr>
            <a:picLocks noChangeAspect="1"/>
          </p:cNvPicPr>
          <p:nvPr/>
        </p:nvPicPr>
        <p:blipFill>
          <a:blip r:embed="rId3"/>
          <a:srcRect l="84" r="84"/>
          <a:stretch/>
        </p:blipFill>
        <p:spPr>
          <a:xfrm>
            <a:off x="7255510" y="8890"/>
            <a:ext cx="4936490" cy="68402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72350" y="0"/>
            <a:ext cx="1727200" cy="5556885"/>
          </a:xfrm>
          <a:prstGeom prst="parallelogram">
            <a:avLst>
              <a:gd name="adj" fmla="val 84115"/>
            </a:avLst>
          </a:prstGeom>
          <a:solidFill>
            <a:srgbClr val="232323"/>
          </a:solidFill>
          <a:ln/>
        </p:spPr>
        <p:txBody>
          <a:bodyPr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" name="Shape 1"/>
          <p:cNvSpPr/>
          <p:nvPr/>
        </p:nvSpPr>
        <p:spPr>
          <a:xfrm>
            <a:off x="7168515" y="2509520"/>
            <a:ext cx="1377950" cy="4348480"/>
          </a:xfrm>
          <a:prstGeom prst="parallelogram">
            <a:avLst>
              <a:gd name="adj" fmla="val 82610"/>
            </a:avLst>
          </a:prstGeom>
          <a:gradFill flip="none" rotWithShape="1">
            <a:gsLst>
              <a:gs pos="0">
                <a:srgbClr val="EBEBEB"/>
              </a:gs>
              <a:gs pos="30000">
                <a:srgbClr val="EBEBEB"/>
              </a:gs>
              <a:gs pos="100000">
                <a:srgbClr val="EBEBEB">
                  <a:alpha val="6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" name="Text 2"/>
          <p:cNvSpPr/>
          <p:nvPr/>
        </p:nvSpPr>
        <p:spPr>
          <a:xfrm>
            <a:off x="988060" y="704215"/>
            <a:ext cx="10534650" cy="58477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3200" b="1" dirty="0">
                <a:solidFill>
                  <a:srgbClr val="111111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结论分析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6" name="Image 1" descr="https://kimi-img.moonshot.cn/pub/slides/slides_tmpl/image/25-09-04-16:27:00-d2skql61bb2p4onbqhag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28942" y="770420"/>
            <a:ext cx="533400" cy="3683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2342" y="2480802"/>
            <a:ext cx="5848350" cy="220182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111111"/>
                </a:solidFill>
                <a:latin typeface="宋体" panose="02010600030101010101" pitchFamily="2" charset="-122"/>
                <a:ea typeface="宋体" panose="02010600030101010101" pitchFamily="2" charset="-122"/>
                <a:cs typeface="MiSans" pitchFamily="34" charset="-120"/>
              </a:rPr>
              <a:t>不同类型基金在股票层面的持股结构存在显著差异：准指数型基金覆盖最广，交易型基金配置较为均衡，专注型基金则集中于少数股票。</a:t>
            </a:r>
            <a:endParaRPr lang="en-US" altLang="zh-CN" sz="1600" dirty="0">
              <a:solidFill>
                <a:srgbClr val="111111"/>
              </a:solidFill>
              <a:latin typeface="宋体" panose="02010600030101010101" pitchFamily="2" charset="-122"/>
              <a:ea typeface="宋体" panose="02010600030101010101" pitchFamily="2" charset="-122"/>
              <a:cs typeface="MiSans" pitchFamily="34" charset="-120"/>
            </a:endParaRPr>
          </a:p>
          <a:p>
            <a:pPr marL="285750" indent="-2857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机构投资者结构在时间上存在显著变化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85750" indent="-2857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不同类型机构在股票规模维度上具有系统性差异：均偏好大盘股，但专注型偏好最强，交易型相对分散。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32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5320" y="469900"/>
            <a:ext cx="106680" cy="1066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39165" y="469900"/>
            <a:ext cx="106680" cy="10668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223010" y="469900"/>
            <a:ext cx="106680" cy="1066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506855" y="469900"/>
            <a:ext cx="106680" cy="10668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790700" y="469900"/>
            <a:ext cx="106680" cy="1066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074545" y="469900"/>
            <a:ext cx="106680" cy="10668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8" name="Image 0" descr="https://kimi-img.moonshot.cn/pub/slides/slides_tmpl/image/25-09-04-16:27:05-d2skqme1bb2p4onbqi10.png"/>
          <p:cNvPicPr>
            <a:picLocks noChangeAspect="1"/>
          </p:cNvPicPr>
          <p:nvPr/>
        </p:nvPicPr>
        <p:blipFill>
          <a:blip r:embed="rId3"/>
          <a:srcRect l="17548" r="23949" b="14559"/>
          <a:stretch/>
        </p:blipFill>
        <p:spPr>
          <a:xfrm rot="16200000">
            <a:off x="5955983" y="612140"/>
            <a:ext cx="6848475" cy="56235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5320" y="2484382"/>
            <a:ext cx="7026275" cy="1015663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60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感谢观看</a:t>
            </a:r>
            <a:endParaRPr lang="en-US" sz="60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0" name="Text 7"/>
          <p:cNvSpPr/>
          <p:nvPr/>
        </p:nvSpPr>
        <p:spPr>
          <a:xfrm>
            <a:off x="762000" y="4045585"/>
            <a:ext cx="5954395" cy="4597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en-US" sz="2400" dirty="0">
                <a:solidFill>
                  <a:srgbClr val="FFFFFF"/>
                </a:solidFill>
                <a:latin typeface="黑体" panose="02010609060101010101" pitchFamily="49" charset="-122"/>
                <a:ea typeface="黑体" panose="02010609060101010101" pitchFamily="49" charset="-122"/>
                <a:cs typeface="MiSans" pitchFamily="34" charset="-120"/>
              </a:rPr>
              <a:t>THANK YOU FOR WATCHING</a:t>
            </a:r>
            <a:endParaRPr lang="en-US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32323"/>
      </a:accent1>
      <a:accent2>
        <a:srgbClr val="EBEBEB"/>
      </a:accent2>
      <a:accent3>
        <a:srgbClr val="919191"/>
      </a:accent3>
      <a:accent4>
        <a:srgbClr val="ADADAD"/>
      </a:accent4>
      <a:accent5>
        <a:srgbClr val="C79E7F"/>
      </a:accent5>
      <a:accent6>
        <a:srgbClr val="C27F6C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464</TotalTime>
  <Words>671</Words>
  <Application>Microsoft Office PowerPoint</Application>
  <PresentationFormat>宽屏</PresentationFormat>
  <Paragraphs>116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Noto Sans SC</vt:lpstr>
      <vt:lpstr>黑体</vt:lpstr>
      <vt:lpstr>宋体</vt:lpstr>
      <vt:lpstr>Arial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Bushee基金分类与股票持仓结构分析</dc:title>
  <dc:subject>Bushee基金分类与股票持仓结构分析</dc:subject>
  <dc:creator>Kimi</dc:creator>
  <cp:lastModifiedBy>Phoenix MA</cp:lastModifiedBy>
  <cp:revision>65</cp:revision>
  <dcterms:created xsi:type="dcterms:W3CDTF">2026-04-16T06:40:02Z</dcterms:created>
  <dcterms:modified xsi:type="dcterms:W3CDTF">2026-04-18T16:49:01Z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Bushee基金分类与股票持仓结构分析","ContentProducer":"001191110108MACG2KBH8F10000","ProduceID":"19d9502f-9972-8978-8000-0000183e4995","ReservedCode1":"","ContentPropagator":"001191110108MACG2KBH8F20000","PropagateID":"19d9502f-9972-8978-8000-0000183e4995","ReservedCode2":""}</vt:lpwstr>
  </property>
</Properties>
</file>